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83.xml" ContentType="application/vnd.openxmlformats-officedocument.presentationml.slide+xml"/>
  <Override PartName="/ppt/slides/slide81.xml" ContentType="application/vnd.openxmlformats-officedocument.presentationml.slide+xml"/>
  <Override PartName="/ppt/slides/slide80.xml" ContentType="application/vnd.openxmlformats-officedocument.presentationml.slide+xml"/>
  <Override PartName="/ppt/slides/slide79.xml" ContentType="application/vnd.openxmlformats-officedocument.presentationml.slide+xml"/>
  <Override PartName="/ppt/slides/slide77.xml" ContentType="application/vnd.openxmlformats-officedocument.presentationml.slide+xml"/>
  <Override PartName="/ppt/slides/slide75.xml" ContentType="application/vnd.openxmlformats-officedocument.presentationml.slide+xml"/>
  <Override PartName="/ppt/slides/slide72.xml" ContentType="application/vnd.openxmlformats-officedocument.presentationml.slide+xml"/>
  <Override PartName="/ppt/slides/slide71.xml" ContentType="application/vnd.openxmlformats-officedocument.presentationml.slide+xml"/>
  <Override PartName="/ppt/slides/slide70.xml" ContentType="application/vnd.openxmlformats-officedocument.presentationml.slide+xml"/>
  <Override PartName="/ppt/slides/slide67.xml" ContentType="application/vnd.openxmlformats-officedocument.presentationml.slide+xml"/>
  <Override PartName="/ppt/slides/slide66.xml" ContentType="application/vnd.openxmlformats-officedocument.presentationml.slide+xml"/>
  <Override PartName="/ppt/slides/slide65.xml" ContentType="application/vnd.openxmlformats-officedocument.presentationml.slide+xml"/>
  <Override PartName="/ppt/slides/slide68.xml" ContentType="application/vnd.openxmlformats-officedocument.presentationml.slide+xml"/>
  <Override PartName="/ppt/slides/slide64.xml" ContentType="application/vnd.openxmlformats-officedocument.presentationml.slide+xml"/>
  <Override PartName="/ppt/slides/slide63.xml" ContentType="application/vnd.openxmlformats-officedocument.presentationml.slide+xml"/>
  <Override PartName="/ppt/slides/slide61.xml" ContentType="application/vnd.openxmlformats-officedocument.presentationml.slide+xml"/>
  <Override PartName="/ppt/slides/slide59.xml" ContentType="application/vnd.openxmlformats-officedocument.presentationml.slide+xml"/>
  <Override PartName="/ppt/slides/slide56.xml" ContentType="application/vnd.openxmlformats-officedocument.presentationml.slide+xml"/>
  <Override PartName="/ppt/slides/slide74.xml" ContentType="application/vnd.openxmlformats-officedocument.presentationml.slide+xml"/>
  <Override PartName="/ppt/slides/slide55.xml" ContentType="application/vnd.openxmlformats-officedocument.presentationml.slide+xml"/>
  <Override PartName="/ppt/slides/slide52.xml" ContentType="application/vnd.openxmlformats-officedocument.presentationml.slide+xml"/>
  <Override PartName="/ppt/slides/slide50.xml" ContentType="application/vnd.openxmlformats-officedocument.presentationml.slide+xml"/>
  <Override PartName="/ppt/slides/slide47.xml" ContentType="application/vnd.openxmlformats-officedocument.presentationml.slide+xml"/>
  <Override PartName="/ppt/slides/slide46.xml" ContentType="application/vnd.openxmlformats-officedocument.presentationml.slide+xml"/>
  <Override PartName="/ppt/slides/slide82.xml" ContentType="application/vnd.openxmlformats-officedocument.presentationml.slide+xml"/>
  <Override PartName="/ppt/slides/slide45.xml" ContentType="application/vnd.openxmlformats-officedocument.presentationml.slide+xml"/>
  <Override PartName="/ppt/slides/slide43.xml" ContentType="application/vnd.openxmlformats-officedocument.presentationml.slide+xml"/>
  <Override PartName="/ppt/slides/slide37.xml" ContentType="application/vnd.openxmlformats-officedocument.presentationml.slide+xml"/>
  <Override PartName="/ppt/slides/slide51.xml" ContentType="application/vnd.openxmlformats-officedocument.presentationml.slide+xml"/>
  <Override PartName="/ppt/slides/slide36.xml" ContentType="application/vnd.openxmlformats-officedocument.presentationml.slide+xml"/>
  <Override PartName="/ppt/slides/slide62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42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69.xml" ContentType="application/vnd.openxmlformats-officedocument.presentationml.slide+xml"/>
  <Override PartName="/ppt/slides/slide57.xml" ContentType="application/vnd.openxmlformats-officedocument.presentationml.slide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s/slide6.xml" ContentType="application/vnd.openxmlformats-officedocument.presentationml.slide+xml"/>
  <Override PartName="/ppt/slides/slide44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35.xml" ContentType="application/vnd.openxmlformats-officedocument.presentationml.slide+xml"/>
  <Override PartName="/ppt/slides/slide48.xml" ContentType="application/vnd.openxmlformats-officedocument.presentationml.slide+xml"/>
  <Override PartName="/ppt/slides/slide4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s/slide76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4.xml" ContentType="application/vnd.openxmlformats-officedocument.presentationml.slide+xml"/>
  <Override PartName="/ppt/slides/slide4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78.xml" ContentType="application/vnd.openxmlformats-officedocument.presentationml.slide+xml"/>
  <Override PartName="/ppt/slides/slide73.xml" ContentType="application/vnd.openxmlformats-officedocument.presentationml.slide+xml"/>
  <Override PartName="/ppt/slides/slide24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slides/slide53.xml" ContentType="application/vnd.openxmlformats-officedocument.presentationml.slide+xml"/>
  <Override PartName="/ppt/theme/theme1.xml" ContentType="application/vnd.openxmlformats-officedocument.theme+xml"/>
  <Override PartName="/ppt/slides/slide28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41.xml" ContentType="application/vnd.openxmlformats-officedocument.presentationml.slide+xml"/>
  <Override PartName="/ppt/slides/slide16.xml" ContentType="application/vnd.openxmlformats-officedocument.presentationml.slide+xml"/>
  <Override PartName="/ppt/slides/slide60.xml" ContentType="application/vnd.openxmlformats-officedocument.presentationml.slide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slides/slide58.xml" ContentType="application/vnd.openxmlformats-officedocument.presentationml.slide+xml"/>
  <Override PartName="/ppt/viewProps.xml" ContentType="application/vnd.openxmlformats-officedocument.presentationml.viewProps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s/slide38.xml" ContentType="application/vnd.openxmlformats-officedocument.presentationml.slide+xml"/>
  <Override PartName="/ppt/slides/slide34.xml" ContentType="application/vnd.openxmlformats-officedocument.presentationml.slide+xml"/>
  <Override PartName="/ppt/slides/slide54.xml" ContentType="application/vnd.openxmlformats-officedocument.presentationml.slide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trictFirstAndLastChar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</p:sldIdLst>
  <p:sldSz cx="12192000" cy="6858000"/>
  <p:notesSz cx="12192000" cy="6858000"/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slide" Target="slides/slide73.xml"/><Relationship Id="rId76" Type="http://schemas.openxmlformats.org/officeDocument/2006/relationships/slide" Target="slides/slide74.xml"/><Relationship Id="rId77" Type="http://schemas.openxmlformats.org/officeDocument/2006/relationships/slide" Target="slides/slide75.xml"/><Relationship Id="rId78" Type="http://schemas.openxmlformats.org/officeDocument/2006/relationships/slide" Target="slides/slide76.xml"/><Relationship Id="rId79" Type="http://schemas.openxmlformats.org/officeDocument/2006/relationships/slide" Target="slides/slide77.xml"/><Relationship Id="rId80" Type="http://schemas.openxmlformats.org/officeDocument/2006/relationships/slide" Target="slides/slide78.xml"/><Relationship Id="rId81" Type="http://schemas.openxmlformats.org/officeDocument/2006/relationships/slide" Target="slides/slide79.xml"/><Relationship Id="rId82" Type="http://schemas.openxmlformats.org/officeDocument/2006/relationships/slide" Target="slides/slide80.xml"/><Relationship Id="rId83" Type="http://schemas.openxmlformats.org/officeDocument/2006/relationships/slide" Target="slides/slide81.xml"/><Relationship Id="rId84" Type="http://schemas.openxmlformats.org/officeDocument/2006/relationships/slide" Target="slides/slide82.xml"/><Relationship Id="rId85" Type="http://schemas.openxmlformats.org/officeDocument/2006/relationships/slide" Target="slides/slide83.xml"/><Relationship Id="rId86" Type="http://schemas.openxmlformats.org/officeDocument/2006/relationships/presProps" Target="presProps.xml" /><Relationship Id="rId87" Type="http://schemas.openxmlformats.org/officeDocument/2006/relationships/tableStyles" Target="tableStyles.xml" /><Relationship Id="rId88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Титульный слайд" preserve="0" showMasterPhAnim="0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Google Shape;12;p2" hidden="0"/>
          <p:cNvSpPr txBox="1">
            <a:spLocks noGrp="1"/>
          </p:cNvSpPr>
          <p:nvPr isPhoto="0" userDrawn="0">
            <p:ph type="ctrTitle" hasCustomPrompt="0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" name="Google Shape;13;p2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4" name="Google Shape;14;p2" hidden="0"/>
          <p:cNvSpPr txBox="1">
            <a:spLocks noGrp="1"/>
          </p:cNvSpPr>
          <p:nvPr isPhoto="0" userDrawn="0">
            <p:ph type="dt" idx="10" hasCustomPrompt="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" name="Google Shape;15;p2" hidden="0"/>
          <p:cNvSpPr txBox="1">
            <a:spLocks noGrp="1"/>
          </p:cNvSpPr>
          <p:nvPr isPhoto="0" userDrawn="0">
            <p:ph type="ftr" idx="11" hasCustomPrompt="0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" name="Google Shape;16;p2" hidden="0"/>
          <p:cNvSpPr txBox="1">
            <a:spLocks noGrp="1"/>
          </p:cNvSpPr>
          <p:nvPr isPhoto="0" userDrawn="0">
            <p:ph type="sldNum" idx="12" hasCustomPrompt="0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Заголовок и объект" preserve="0" showMasterPhAnim="0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" name="Google Shape;18;p3" hidden="0"/>
          <p:cNvSpPr txBox="1">
            <a:spLocks noGrp="1"/>
          </p:cNvSpPr>
          <p:nvPr isPhoto="0" userDrawn="0">
            <p:ph type="title" hasCustomPrompt="0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" name="Google Shape;19;p3" hidden="0"/>
          <p:cNvSpPr txBox="1">
            <a:spLocks noGrp="1"/>
          </p:cNvSpPr>
          <p:nvPr isPhoto="0" userDrawn="0">
            <p:ph type="body" idx="1" hasCustomPrompt="0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" name="Google Shape;20;p3" hidden="0"/>
          <p:cNvSpPr txBox="1">
            <a:spLocks noGrp="1"/>
          </p:cNvSpPr>
          <p:nvPr isPhoto="0" userDrawn="0">
            <p:ph type="dt" idx="10" hasCustomPrompt="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" name="Google Shape;21;p3" hidden="0"/>
          <p:cNvSpPr txBox="1">
            <a:spLocks noGrp="1"/>
          </p:cNvSpPr>
          <p:nvPr isPhoto="0" userDrawn="0">
            <p:ph type="ftr" idx="11" hasCustomPrompt="0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" name="Google Shape;22;p3" hidden="0"/>
          <p:cNvSpPr txBox="1">
            <a:spLocks noGrp="1"/>
          </p:cNvSpPr>
          <p:nvPr isPhoto="0" userDrawn="0">
            <p:ph type="sldNum" idx="12" hasCustomPrompt="0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Заголовок раздела" preserve="0" showMasterPhAnim="0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" name="Google Shape;24;p4" hidden="0"/>
          <p:cNvSpPr txBox="1">
            <a:spLocks noGrp="1"/>
          </p:cNvSpPr>
          <p:nvPr isPhoto="0" userDrawn="0">
            <p:ph type="title" hasCustomPrompt="0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" name="Google Shape;25;p4" hidden="0"/>
          <p:cNvSpPr txBox="1">
            <a:spLocks noGrp="1"/>
          </p:cNvSpPr>
          <p:nvPr isPhoto="0" userDrawn="0">
            <p:ph type="body" idx="1" hasCustomPrompt="0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6" name="Google Shape;26;p4" hidden="0"/>
          <p:cNvSpPr txBox="1">
            <a:spLocks noGrp="1"/>
          </p:cNvSpPr>
          <p:nvPr isPhoto="0" userDrawn="0">
            <p:ph type="dt" idx="10" hasCustomPrompt="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" name="Google Shape;27;p4" hidden="0"/>
          <p:cNvSpPr txBox="1">
            <a:spLocks noGrp="1"/>
          </p:cNvSpPr>
          <p:nvPr isPhoto="0" userDrawn="0">
            <p:ph type="ftr" idx="11" hasCustomPrompt="0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" name="Google Shape;28;p4" hidden="0"/>
          <p:cNvSpPr txBox="1">
            <a:spLocks noGrp="1"/>
          </p:cNvSpPr>
          <p:nvPr isPhoto="0" userDrawn="0">
            <p:ph type="sldNum" idx="12" hasCustomPrompt="0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Два объекта" preserve="0" showMasterPhAnim="0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" name="Google Shape;30;p5" hidden="0"/>
          <p:cNvSpPr txBox="1">
            <a:spLocks noGrp="1"/>
          </p:cNvSpPr>
          <p:nvPr isPhoto="0" userDrawn="0">
            <p:ph type="title" hasCustomPrompt="0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" name="Google Shape;31;p5" hidden="0"/>
          <p:cNvSpPr txBox="1">
            <a:spLocks noGrp="1"/>
          </p:cNvSpPr>
          <p:nvPr isPhoto="0" userDrawn="0">
            <p:ph type="body" idx="1" hasCustomPrompt="0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" name="Google Shape;32;p5" hidden="0"/>
          <p:cNvSpPr txBox="1">
            <a:spLocks noGrp="1"/>
          </p:cNvSpPr>
          <p:nvPr isPhoto="0" userDrawn="0">
            <p:ph type="body" idx="2" hasCustomPrompt="0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3" name="Google Shape;33;p5" hidden="0"/>
          <p:cNvSpPr txBox="1">
            <a:spLocks noGrp="1"/>
          </p:cNvSpPr>
          <p:nvPr isPhoto="0" userDrawn="0">
            <p:ph type="dt" idx="10" hasCustomPrompt="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4" name="Google Shape;34;p5" hidden="0"/>
          <p:cNvSpPr txBox="1">
            <a:spLocks noGrp="1"/>
          </p:cNvSpPr>
          <p:nvPr isPhoto="0" userDrawn="0">
            <p:ph type="ftr" idx="11" hasCustomPrompt="0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5" name="Google Shape;35;p5" hidden="0"/>
          <p:cNvSpPr txBox="1">
            <a:spLocks noGrp="1"/>
          </p:cNvSpPr>
          <p:nvPr isPhoto="0" userDrawn="0">
            <p:ph type="sldNum" idx="12" hasCustomPrompt="0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Сравнение" preserve="0" showMasterPhAnim="0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" name="Google Shape;37;p6" hidden="0"/>
          <p:cNvSpPr txBox="1">
            <a:spLocks noGrp="1"/>
          </p:cNvSpPr>
          <p:nvPr isPhoto="0" userDrawn="0">
            <p:ph type="title" hasCustomPrompt="0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" name="Google Shape;38;p6" hidden="0"/>
          <p:cNvSpPr txBox="1">
            <a:spLocks noGrp="1"/>
          </p:cNvSpPr>
          <p:nvPr isPhoto="0" userDrawn="0">
            <p:ph type="body" idx="1" hasCustomPrompt="0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39" name="Google Shape;39;p6" hidden="0"/>
          <p:cNvSpPr txBox="1">
            <a:spLocks noGrp="1"/>
          </p:cNvSpPr>
          <p:nvPr isPhoto="0" userDrawn="0">
            <p:ph type="body" idx="2" hasCustomPrompt="0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0" name="Google Shape;40;p6" hidden="0"/>
          <p:cNvSpPr txBox="1">
            <a:spLocks noGrp="1"/>
          </p:cNvSpPr>
          <p:nvPr isPhoto="0" userDrawn="0">
            <p:ph type="body" idx="3" hasCustomPrompt="0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1" name="Google Shape;41;p6" hidden="0"/>
          <p:cNvSpPr txBox="1">
            <a:spLocks noGrp="1"/>
          </p:cNvSpPr>
          <p:nvPr isPhoto="0" userDrawn="0">
            <p:ph type="body" idx="4" hasCustomPrompt="0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" name="Google Shape;42;p6" hidden="0"/>
          <p:cNvSpPr txBox="1">
            <a:spLocks noGrp="1"/>
          </p:cNvSpPr>
          <p:nvPr isPhoto="0" userDrawn="0">
            <p:ph type="dt" idx="10" hasCustomPrompt="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3" name="Google Shape;43;p6" hidden="0"/>
          <p:cNvSpPr txBox="1">
            <a:spLocks noGrp="1"/>
          </p:cNvSpPr>
          <p:nvPr isPhoto="0" userDrawn="0">
            <p:ph type="ftr" idx="11" hasCustomPrompt="0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" name="Google Shape;44;p6" hidden="0"/>
          <p:cNvSpPr txBox="1">
            <a:spLocks noGrp="1"/>
          </p:cNvSpPr>
          <p:nvPr isPhoto="0" userDrawn="0">
            <p:ph type="sldNum" idx="12" hasCustomPrompt="0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Только заголовок" preserve="0" showMasterPhAnim="0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" name="Google Shape;46;p7" hidden="0"/>
          <p:cNvSpPr txBox="1">
            <a:spLocks noGrp="1"/>
          </p:cNvSpPr>
          <p:nvPr isPhoto="0" userDrawn="0">
            <p:ph type="title" hasCustomPrompt="0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" name="Google Shape;47;p7" hidden="0"/>
          <p:cNvSpPr txBox="1">
            <a:spLocks noGrp="1"/>
          </p:cNvSpPr>
          <p:nvPr isPhoto="0" userDrawn="0">
            <p:ph type="dt" idx="10" hasCustomPrompt="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" name="Google Shape;48;p7" hidden="0"/>
          <p:cNvSpPr txBox="1">
            <a:spLocks noGrp="1"/>
          </p:cNvSpPr>
          <p:nvPr isPhoto="0" userDrawn="0">
            <p:ph type="ftr" idx="11" hasCustomPrompt="0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9" name="Google Shape;49;p7" hidden="0"/>
          <p:cNvSpPr txBox="1">
            <a:spLocks noGrp="1"/>
          </p:cNvSpPr>
          <p:nvPr isPhoto="0" userDrawn="0">
            <p:ph type="sldNum" idx="12" hasCustomPrompt="0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Пустой слайд" preserve="0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" name="Google Shape;51;p8" hidden="0"/>
          <p:cNvSpPr txBox="1">
            <a:spLocks noGrp="1"/>
          </p:cNvSpPr>
          <p:nvPr isPhoto="0" userDrawn="0">
            <p:ph type="dt" idx="10" hasCustomPrompt="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" name="Google Shape;52;p8" hidden="0"/>
          <p:cNvSpPr txBox="1">
            <a:spLocks noGrp="1"/>
          </p:cNvSpPr>
          <p:nvPr isPhoto="0" userDrawn="0">
            <p:ph type="ftr" idx="11" hasCustomPrompt="0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3" name="Google Shape;53;p8" hidden="0"/>
          <p:cNvSpPr txBox="1">
            <a:spLocks noGrp="1"/>
          </p:cNvSpPr>
          <p:nvPr isPhoto="0" userDrawn="0">
            <p:ph type="sldNum" idx="12" hasCustomPrompt="0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Объект с подписью" preserve="0" showMasterPhAnim="0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Google Shape;55;p9" hidden="0"/>
          <p:cNvSpPr txBox="1">
            <a:spLocks noGrp="1"/>
          </p:cNvSpPr>
          <p:nvPr isPhoto="0" userDrawn="0">
            <p:ph type="title" hasCustomPrompt="0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" name="Google Shape;56;p9" hidden="0"/>
          <p:cNvSpPr txBox="1">
            <a:spLocks noGrp="1"/>
          </p:cNvSpPr>
          <p:nvPr isPhoto="0" userDrawn="0">
            <p:ph type="body" idx="1" hasCustomPrompt="0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57" name="Google Shape;57;p9" hidden="0"/>
          <p:cNvSpPr txBox="1">
            <a:spLocks noGrp="1"/>
          </p:cNvSpPr>
          <p:nvPr isPhoto="0" userDrawn="0">
            <p:ph type="body" idx="2" hasCustomPrompt="0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58" name="Google Shape;58;p9" hidden="0"/>
          <p:cNvSpPr txBox="1">
            <a:spLocks noGrp="1"/>
          </p:cNvSpPr>
          <p:nvPr isPhoto="0" userDrawn="0">
            <p:ph type="dt" idx="10" hasCustomPrompt="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" name="Google Shape;59;p9" hidden="0"/>
          <p:cNvSpPr txBox="1">
            <a:spLocks noGrp="1"/>
          </p:cNvSpPr>
          <p:nvPr isPhoto="0" userDrawn="0">
            <p:ph type="ftr" idx="11" hasCustomPrompt="0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" name="Google Shape;60;p9" hidden="0"/>
          <p:cNvSpPr txBox="1">
            <a:spLocks noGrp="1"/>
          </p:cNvSpPr>
          <p:nvPr isPhoto="0" userDrawn="0">
            <p:ph type="sldNum" idx="12" hasCustomPrompt="0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Рисунок с подписью" preserve="0" showMasterPhAnim="0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" name="Google Shape;62;p10" hidden="0"/>
          <p:cNvSpPr txBox="1">
            <a:spLocks noGrp="1"/>
          </p:cNvSpPr>
          <p:nvPr isPhoto="0" userDrawn="0">
            <p:ph type="title" hasCustomPrompt="0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" name="Google Shape;63;p10" hidden="0"/>
          <p:cNvSpPr>
            <a:spLocks noGrp="1"/>
          </p:cNvSpPr>
          <p:nvPr isPhoto="0" userDrawn="0">
            <p:ph type="pic" idx="2" hasCustomPrompt="0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 hidden="0"/>
          <p:cNvSpPr txBox="1">
            <a:spLocks noGrp="1"/>
          </p:cNvSpPr>
          <p:nvPr isPhoto="0" userDrawn="0">
            <p:ph type="body" idx="1" hasCustomPrompt="0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5" name="Google Shape;65;p10" hidden="0"/>
          <p:cNvSpPr txBox="1">
            <a:spLocks noGrp="1"/>
          </p:cNvSpPr>
          <p:nvPr isPhoto="0" userDrawn="0">
            <p:ph type="dt" idx="10" hasCustomPrompt="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6" name="Google Shape;66;p10" hidden="0"/>
          <p:cNvSpPr txBox="1">
            <a:spLocks noGrp="1"/>
          </p:cNvSpPr>
          <p:nvPr isPhoto="0" userDrawn="0">
            <p:ph type="ftr" idx="11" hasCustomPrompt="0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" name="Google Shape;67;p10" hidden="0"/>
          <p:cNvSpPr txBox="1">
            <a:spLocks noGrp="1"/>
          </p:cNvSpPr>
          <p:nvPr isPhoto="0" userDrawn="0">
            <p:ph type="sldNum" idx="12" hasCustomPrompt="0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Заголовок и вертикальный текст" preserve="0" showMasterPhAnim="0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" name="Google Shape;69;p11" hidden="0"/>
          <p:cNvSpPr txBox="1">
            <a:spLocks noGrp="1"/>
          </p:cNvSpPr>
          <p:nvPr isPhoto="0" userDrawn="0">
            <p:ph type="title" hasCustomPrompt="0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" name="Google Shape;70;p11" hidden="0"/>
          <p:cNvSpPr txBox="1">
            <a:spLocks noGrp="1"/>
          </p:cNvSpPr>
          <p:nvPr isPhoto="0" userDrawn="0">
            <p:ph type="body" idx="1" hasCustomPrompt="0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" name="Google Shape;71;p11" hidden="0"/>
          <p:cNvSpPr txBox="1">
            <a:spLocks noGrp="1"/>
          </p:cNvSpPr>
          <p:nvPr isPhoto="0" userDrawn="0">
            <p:ph type="dt" idx="10" hasCustomPrompt="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2" name="Google Shape;72;p11" hidden="0"/>
          <p:cNvSpPr txBox="1">
            <a:spLocks noGrp="1"/>
          </p:cNvSpPr>
          <p:nvPr isPhoto="0" userDrawn="0">
            <p:ph type="ftr" idx="11" hasCustomPrompt="0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3" name="Google Shape;73;p11" hidden="0"/>
          <p:cNvSpPr txBox="1">
            <a:spLocks noGrp="1"/>
          </p:cNvSpPr>
          <p:nvPr isPhoto="0" userDrawn="0">
            <p:ph type="sldNum" idx="12" hasCustomPrompt="0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Вертикальный заголовок и текст" preserve="0" showMasterPhAnim="0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" name="Google Shape;75;p12" hidden="0"/>
          <p:cNvSpPr txBox="1">
            <a:spLocks noGrp="1"/>
          </p:cNvSpPr>
          <p:nvPr isPhoto="0" userDrawn="0">
            <p:ph type="title" hasCustomPrompt="0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" name="Google Shape;76;p12" hidden="0"/>
          <p:cNvSpPr txBox="1">
            <a:spLocks noGrp="1"/>
          </p:cNvSpPr>
          <p:nvPr isPhoto="0" userDrawn="0">
            <p:ph type="body" idx="1" hasCustomPrompt="0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" name="Google Shape;77;p12" hidden="0"/>
          <p:cNvSpPr txBox="1">
            <a:spLocks noGrp="1"/>
          </p:cNvSpPr>
          <p:nvPr isPhoto="0" userDrawn="0">
            <p:ph type="dt" idx="10" hasCustomPrompt="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8" name="Google Shape;78;p12" hidden="0"/>
          <p:cNvSpPr txBox="1">
            <a:spLocks noGrp="1"/>
          </p:cNvSpPr>
          <p:nvPr isPhoto="0" userDrawn="0">
            <p:ph type="ftr" idx="11" hasCustomPrompt="0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9" name="Google Shape;79;p12" hidden="0"/>
          <p:cNvSpPr txBox="1">
            <a:spLocks noGrp="1"/>
          </p:cNvSpPr>
          <p:nvPr isPhoto="0" userDrawn="0">
            <p:ph type="sldNum" idx="12" hasCustomPrompt="0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6;p1" hidden="0"/>
          <p:cNvSpPr txBox="1">
            <a:spLocks noGrp="1"/>
          </p:cNvSpPr>
          <p:nvPr isPhoto="0" userDrawn="0">
            <p:ph type="title" hasCustomPrompt="0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;p1" hidden="0"/>
          <p:cNvSpPr txBox="1">
            <a:spLocks noGrp="1"/>
          </p:cNvSpPr>
          <p:nvPr isPhoto="0" userDrawn="0">
            <p:ph type="body" idx="1" hasCustomPrompt="0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;p1" hidden="0"/>
          <p:cNvSpPr txBox="1">
            <a:spLocks noGrp="1"/>
          </p:cNvSpPr>
          <p:nvPr isPhoto="0" userDrawn="0">
            <p:ph type="dt" idx="10" hasCustomPrompt="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" name="Google Shape;9;p1" hidden="0"/>
          <p:cNvSpPr txBox="1">
            <a:spLocks noGrp="1"/>
          </p:cNvSpPr>
          <p:nvPr isPhoto="0" userDrawn="0">
            <p:ph type="ftr" idx="11" hasCustomPrompt="0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" name="Google Shape;10;p1" hidden="0"/>
          <p:cNvSpPr txBox="1">
            <a:spLocks noGrp="1"/>
          </p:cNvSpPr>
          <p:nvPr isPhoto="0" userDrawn="0">
            <p:ph type="sldNum" idx="12" hasCustomPrompt="0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" name="Google Shape;84;p13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 flipH="0" flipV="0">
            <a:off x="532658" y="772356"/>
            <a:ext cx="11381172" cy="5244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pPr>
            <a:r>
              <a:rPr lang="ru-RU" sz="46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 </a:t>
            </a:r>
            <a:r>
              <a:rPr lang="ru-RU" sz="46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Героиня шутки корыстно уточняет у кавалера кто она - зайка или птичка. </a:t>
            </a:r>
            <a:endParaRPr lang="ru-RU" sz="46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pPr>
            <a:r>
              <a:rPr lang="ru-RU" sz="46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А начинает она с этих двух слов, совпадающих с названием эпизода известного сериала. Назовите эти два слова.</a:t>
            </a:r>
            <a:endParaRPr sz="4600">
              <a:latin typeface="Arial"/>
              <a:ea typeface="Arial"/>
              <a:cs typeface="Arial"/>
            </a:endParaRPr>
          </a:p>
        </p:txBody>
      </p:sp>
      <p:pic>
        <p:nvPicPr>
          <p:cNvPr id="85" name="Google Shape;85;p13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 hidden="0"/>
          <p:cNvSpPr txBox="1"/>
          <p:nvPr isPhoto="0" userDrawn="0"/>
        </p:nvSpPr>
        <p:spPr bwMode="auto">
          <a:xfrm>
            <a:off x="433784" y="231170"/>
            <a:ext cx="1820318" cy="39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1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" name="Google Shape;91;p14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39193" y="807868"/>
            <a:ext cx="11040846" cy="5424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  Зима близко</a:t>
            </a:r>
            <a:endParaRPr lang="ru-RU"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pPr>
            <a:endParaRPr lang="ru-RU"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pPr>
            <a:r>
              <a:rPr lang="ru-RU" sz="30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Комментарий:</a:t>
            </a:r>
            <a:r>
              <a:rPr lang="ru-RU" sz="30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000" b="0" i="0" u="none">
                <a:solidFill>
                  <a:schemeClr val="tx1"/>
                </a:solidFill>
                <a:latin typeface="Carlito"/>
                <a:ea typeface="Arial"/>
                <a:cs typeface="Carlito"/>
              </a:rPr>
              <a:t>Скоро</a:t>
            </a:r>
            <a:r>
              <a:rPr sz="3000" b="0" i="0" u="none">
                <a:solidFill>
                  <a:schemeClr val="tx1"/>
                </a:solidFill>
                <a:latin typeface="Carlito"/>
                <a:ea typeface="Arial"/>
                <a:cs typeface="Carlito"/>
              </a:rPr>
              <a:t> </a:t>
            </a:r>
            <a:r>
              <a:rPr sz="3000" b="0" i="0" u="none">
                <a:solidFill>
                  <a:schemeClr val="tx1"/>
                </a:solidFill>
                <a:latin typeface="Carlito"/>
                <a:ea typeface="Arial"/>
                <a:cs typeface="Carlito"/>
              </a:rPr>
              <a:t>зима</a:t>
            </a:r>
            <a:r>
              <a:rPr sz="3000" b="0" i="0" u="none">
                <a:solidFill>
                  <a:schemeClr val="tx1"/>
                </a:solidFill>
                <a:latin typeface="Carlito"/>
                <a:ea typeface="Arial"/>
                <a:cs typeface="Carlito"/>
              </a:rPr>
              <a:t>. Птички полетят на юг, зайки сменят шубку. Надо уточнить - зайка или птичка?</a:t>
            </a:r>
            <a:endParaRPr sz="3800" b="0">
              <a:solidFill>
                <a:schemeClr val="tx1"/>
              </a:solidFill>
              <a:latin typeface="Carlito"/>
              <a:cs typeface="Carlito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pPr>
            <a:endParaRPr sz="3600"/>
          </a:p>
        </p:txBody>
      </p:sp>
      <p:pic>
        <p:nvPicPr>
          <p:cNvPr id="92" name="Google Shape;92;p14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 hidden="0"/>
          <p:cNvSpPr txBox="1"/>
          <p:nvPr isPhoto="0" userDrawn="0"/>
        </p:nvSpPr>
        <p:spPr bwMode="auto">
          <a:xfrm>
            <a:off x="433784" y="231170"/>
            <a:ext cx="1820318" cy="39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1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Google Shape;98;p15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525502" y="763480"/>
            <a:ext cx="11140995" cy="5723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pPr>
            <a:r>
              <a:rPr lang="ru-RU" sz="46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46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В НЕЙ всё не как у людей. ОНА была основана в 1714 году. Назовите ЕЁ словом немецкого происхождения.</a:t>
            </a:r>
            <a:endParaRPr sz="4600"/>
          </a:p>
        </p:txBody>
      </p:sp>
      <p:pic>
        <p:nvPicPr>
          <p:cNvPr id="99" name="Google Shape;99;p15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 hidden="0"/>
          <p:cNvSpPr txBox="1"/>
          <p:nvPr isPhoto="0" userDrawn="0"/>
        </p:nvSpPr>
        <p:spPr bwMode="auto">
          <a:xfrm>
            <a:off x="433784" y="231170"/>
            <a:ext cx="1820318" cy="39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2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" name="Google Shape;105;p16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710214" y="822915"/>
            <a:ext cx="11048001" cy="5719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pPr>
            <a:r>
              <a:rPr lang="ru-RU" sz="3600" b="1"/>
              <a:t>Ответ: </a:t>
            </a:r>
            <a:r>
              <a:rPr lang="ru-RU" sz="3600"/>
              <a:t> </a:t>
            </a:r>
            <a:r>
              <a:rPr lang="ru-RU" sz="36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Кунсткамера</a:t>
            </a:r>
            <a:endParaRPr sz="3600"/>
          </a:p>
        </p:txBody>
      </p:sp>
      <p:pic>
        <p:nvPicPr>
          <p:cNvPr id="106" name="Google Shape;106;p16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 hidden="0"/>
          <p:cNvSpPr txBox="1"/>
          <p:nvPr isPhoto="0" userDrawn="0"/>
        </p:nvSpPr>
        <p:spPr bwMode="auto">
          <a:xfrm>
            <a:off x="433784" y="231170"/>
            <a:ext cx="1820318" cy="39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2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" name="Google Shape;112;p17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3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17" hidden="0"/>
          <p:cNvSpPr txBox="1"/>
          <p:nvPr isPhoto="0" userDrawn="0"/>
        </p:nvSpPr>
        <p:spPr bwMode="auto">
          <a:xfrm flipH="0" flipV="0">
            <a:off x="525501" y="689060"/>
            <a:ext cx="11140993" cy="5488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4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Рональд Рейган — единственный, кому удалось стать президентом США, несмотря на предшествующий ИКС. Для командира роты специального караула в Кремле ИКСЫ — регулярное событие. Что такое ИКС?</a:t>
            </a:r>
            <a:endParaRPr sz="4400" b="0" i="0" u="none" strike="noStrike" cap="none" spc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9" name="Google Shape;119;p18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3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Google Shape;121;p18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 flipH="0" flipV="0">
            <a:off x="550415" y="689060"/>
            <a:ext cx="11207798" cy="580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/>
            </a:pPr>
            <a:r>
              <a:rPr lang="ru-RU" sz="4000" b="1"/>
              <a:t>Ответ:</a:t>
            </a:r>
            <a:r>
              <a:rPr lang="ru-RU" sz="4000"/>
              <a:t> </a:t>
            </a:r>
            <a:r>
              <a:rPr lang="ru-RU" sz="4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развод</a:t>
            </a:r>
            <a:endParaRPr lang="ru-RU" sz="4000" b="0" i="0" u="none" strike="noStrike" cap="none" spc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/>
            </a:pPr>
            <a:endParaRPr lang="ru-RU" sz="40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/>
            </a:pPr>
            <a:r>
              <a:rPr lang="ru-RU" sz="30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Комментарий:</a:t>
            </a:r>
            <a:r>
              <a:rPr lang="ru-RU" sz="30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3000" b="0" i="0" u="none" strike="noStrike" cap="none" spc="0">
                <a:solidFill>
                  <a:srgbClr val="000000"/>
                </a:solidFill>
                <a:latin typeface="Calibri"/>
                <a:cs typeface="Calibri"/>
              </a:rPr>
              <a:t>Рейган — единственный президент США, имевший такое "пятно на биографии". Для командира роты специального караула  в Кремле развод — привычное дело.</a:t>
            </a:r>
            <a:endParaRPr sz="30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/>
            </a:pPr>
            <a:endParaRPr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/>
            </a:pPr>
            <a:endParaRPr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" name="Google Shape;126;p19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7220" y="781236"/>
            <a:ext cx="11140995" cy="5593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pPr>
            <a:r>
              <a:rPr lang="ru-RU" sz="44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Геолог открыл месторождение металлических руд, наблюдая за АЛЬФАМИ. Посетительница одного форума сетовала, что однажды ей пришлось выпороть АЛЬФУ. Назовите АЛЬФУ.</a:t>
            </a:r>
            <a:endParaRPr sz="4400"/>
          </a:p>
        </p:txBody>
      </p:sp>
      <p:pic>
        <p:nvPicPr>
          <p:cNvPr id="127" name="Google Shape;127;p19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 hidden="0"/>
          <p:cNvSpPr txBox="1"/>
          <p:nvPr isPhoto="0" userDrawn="0"/>
        </p:nvSpPr>
        <p:spPr bwMode="auto">
          <a:xfrm>
            <a:off x="433784" y="231170"/>
            <a:ext cx="1820318" cy="39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4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" name="Google Shape;133;p20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 flipH="0" flipV="0">
            <a:off x="585925" y="624055"/>
            <a:ext cx="11172288" cy="5457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40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Ответ:</a:t>
            </a:r>
            <a:r>
              <a:rPr lang="ru-RU" sz="40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40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Молния</a:t>
            </a:r>
            <a:endParaRPr lang="ru-RU" sz="4000"/>
          </a:p>
          <a:p>
            <a:pPr marL="0" marR="0" lvl="0" indent="0"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/>
          </a:p>
          <a:p>
            <a:pPr algn="just">
              <a:defRPr/>
            </a:pPr>
            <a:endParaRPr sz="3200"/>
          </a:p>
        </p:txBody>
      </p:sp>
      <p:pic>
        <p:nvPicPr>
          <p:cNvPr id="134" name="Google Shape;134;p20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 hidden="0"/>
          <p:cNvSpPr txBox="1"/>
          <p:nvPr isPhoto="0" userDrawn="0"/>
        </p:nvSpPr>
        <p:spPr bwMode="auto">
          <a:xfrm>
            <a:off x="433784" y="231170"/>
            <a:ext cx="1820318" cy="39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4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" name="Google Shape;140;p21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 flipH="0" flipV="0">
            <a:off x="506027" y="861132"/>
            <a:ext cx="11252187" cy="533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pPr>
            <a:r>
              <a:rPr lang="ru-RU" sz="4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48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На рекламном плакате курсов по разностороннему развитию личности ОН, держит в руках книги, палитру и кисть. Назовите ЕГО двумя словами.</a:t>
            </a:r>
            <a:endParaRPr sz="4800" b="0" i="0" u="none" strike="noStrike" cap="none" spc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1" name="Google Shape;141;p21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" name="Google Shape;147;p22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 flipH="0" flipV="0">
            <a:off x="674701" y="689060"/>
            <a:ext cx="11212497" cy="566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  </a:t>
            </a:r>
            <a:r>
              <a:rPr lang="ru-RU" sz="36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Витрувианский человек</a:t>
            </a:r>
            <a:endParaRPr sz="3600"/>
          </a:p>
        </p:txBody>
      </p:sp>
      <p:pic>
        <p:nvPicPr>
          <p:cNvPr id="148" name="Google Shape;148;p22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2" hidden="0"/>
          <p:cNvSpPr txBox="1"/>
          <p:nvPr isPhoto="0" userDrawn="0"/>
        </p:nvSpPr>
        <p:spPr bwMode="auto">
          <a:xfrm>
            <a:off x="433784" y="231170"/>
            <a:ext cx="1820318" cy="39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5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" name="Google Shape;154;p23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 flipH="0" flipV="0">
            <a:off x="433783" y="618504"/>
            <a:ext cx="11324430" cy="555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pPr>
            <a:r>
              <a:rPr lang="ru-RU" sz="50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 </a:t>
            </a:r>
            <a:r>
              <a:rPr lang="ru-RU" sz="50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Одна из заповедей "Общества хороших людей" гласит: "ПОЖАЛУЙСТА". Какие два слова мы заменили словом "ПОЖАЛУЙСТА"?</a:t>
            </a:r>
            <a:endParaRPr sz="5000"/>
          </a:p>
        </p:txBody>
      </p:sp>
      <p:pic>
        <p:nvPicPr>
          <p:cNvPr id="155" name="Google Shape;155;p23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3" hidden="0"/>
          <p:cNvSpPr txBox="1"/>
          <p:nvPr isPhoto="0" userDrawn="0"/>
        </p:nvSpPr>
        <p:spPr bwMode="auto">
          <a:xfrm flipH="0" flipV="0">
            <a:off x="433783" y="231169"/>
            <a:ext cx="5006895" cy="530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6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" name="Google Shape;161;p24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21437" y="905522"/>
            <a:ext cx="11136778" cy="536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pPr>
            <a:r>
              <a:rPr lang="ru-RU" sz="3600" b="1"/>
              <a:t>Ответ:</a:t>
            </a:r>
            <a:r>
              <a:rPr lang="ru-RU" sz="4800"/>
              <a:t>  </a:t>
            </a:r>
            <a:r>
              <a:rPr lang="en-US" sz="3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Будьте добры</a:t>
            </a:r>
            <a:endParaRPr sz="4800"/>
          </a:p>
          <a:p>
            <a:pPr marL="0" lvl="0" indent="0" algn="just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SzPts val="4000"/>
              <a:buNone/>
              <a:defRPr/>
            </a:pPr>
            <a:endParaRPr sz="4000"/>
          </a:p>
          <a:p>
            <a:pPr marL="0" lvl="0" indent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000"/>
              <a:buNone/>
              <a:defRPr/>
            </a:pPr>
            <a:endParaRPr lang="ru-RU" sz="3200" b="0" i="0" u="none" strike="noStrike" cap="none" spc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62" name="Google Shape;162;p24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4" hidden="0"/>
          <p:cNvSpPr txBox="1"/>
          <p:nvPr isPhoto="0" userDrawn="0"/>
        </p:nvSpPr>
        <p:spPr bwMode="auto">
          <a:xfrm>
            <a:off x="433784" y="231170"/>
            <a:ext cx="1820318" cy="39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6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" name="Google Shape;168;p25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433784" y="689061"/>
            <a:ext cx="11324431" cy="5488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pPr>
            <a:r>
              <a:rPr lang="ru-RU" sz="40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На картине изображены дети, играющие на краю обрыва, и наблюдающий за ними ИКС. В одном мультфильме ИКС, как это ни странно, есть у одного из богов. Назовите ИКС словом, пишущимся через дефис.</a:t>
            </a:r>
            <a:endParaRPr sz="4000"/>
          </a:p>
        </p:txBody>
      </p:sp>
      <p:pic>
        <p:nvPicPr>
          <p:cNvPr id="169" name="Google Shape;169;p25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5" hidden="0"/>
          <p:cNvSpPr txBox="1"/>
          <p:nvPr isPhoto="0" userDrawn="0"/>
        </p:nvSpPr>
        <p:spPr bwMode="auto">
          <a:xfrm flipH="0" flipV="0">
            <a:off x="433783" y="231169"/>
            <a:ext cx="5006895" cy="45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7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" name="Google Shape;175;p26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2559" y="941033"/>
            <a:ext cx="11145656" cy="5166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  </a:t>
            </a:r>
            <a:r>
              <a:rPr lang="ru-RU" sz="36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Ангел-хранитель</a:t>
            </a:r>
            <a:endParaRPr lang="ru-RU"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pPr>
            <a:endParaRPr lang="ru-RU"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pPr>
            <a:endParaRPr lang="ru-RU"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pPr>
            <a:endParaRPr sz="3600"/>
          </a:p>
        </p:txBody>
      </p:sp>
      <p:pic>
        <p:nvPicPr>
          <p:cNvPr id="176" name="Google Shape;176;p26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6" hidden="0"/>
          <p:cNvSpPr txBox="1"/>
          <p:nvPr isPhoto="0" userDrawn="0"/>
        </p:nvSpPr>
        <p:spPr bwMode="auto">
          <a:xfrm>
            <a:off x="433784" y="231170"/>
            <a:ext cx="1820318" cy="39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7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" name="Google Shape;182;p27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7220" y="689061"/>
            <a:ext cx="11140995" cy="5457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defRPr/>
            </a:pPr>
            <a:r>
              <a:rPr lang="en-US" sz="42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По словам журналиста, горе миллионов корейцев по умершему Ким Чен Иру — это ОН в государственном масштабе. Напишите топоним, от которого происходит его название.</a:t>
            </a:r>
            <a:endParaRPr sz="4200" b="0" i="0" u="none" strike="noStrike" cap="none" spc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83" name="Google Shape;183;p27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7" hidden="0"/>
          <p:cNvSpPr txBox="1"/>
          <p:nvPr isPhoto="0" userDrawn="0"/>
        </p:nvSpPr>
        <p:spPr bwMode="auto">
          <a:xfrm>
            <a:off x="433784" y="231170"/>
            <a:ext cx="1820318" cy="39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8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" name="Google Shape;190;p28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754602" y="948572"/>
            <a:ext cx="11003613" cy="5248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 Стокгольм</a:t>
            </a:r>
            <a:endParaRPr lang="ru-RU"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pPr>
            <a:r>
              <a:rPr lang="ru-RU" sz="3600"/>
              <a:t>          </a:t>
            </a:r>
            <a:endParaRPr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pPr>
            <a:endParaRPr sz="3600"/>
          </a:p>
          <a:p>
            <a:pPr marL="0" lv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/>
            </a:pPr>
            <a:endParaRPr sz="5400"/>
          </a:p>
        </p:txBody>
      </p:sp>
      <p:pic>
        <p:nvPicPr>
          <p:cNvPr id="191" name="Google Shape;191;p28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8" hidden="0"/>
          <p:cNvSpPr txBox="1"/>
          <p:nvPr isPhoto="0" userDrawn="0"/>
        </p:nvSpPr>
        <p:spPr bwMode="auto">
          <a:xfrm>
            <a:off x="433784" y="231170"/>
            <a:ext cx="1820318" cy="39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8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7" name="Google Shape;197;p29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9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9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9" name="Google Shape;199;p29" hidden="0"/>
          <p:cNvSpPr txBox="1"/>
          <p:nvPr isPhoto="0" userDrawn="0"/>
        </p:nvSpPr>
        <p:spPr bwMode="auto">
          <a:xfrm>
            <a:off x="525502" y="843359"/>
            <a:ext cx="11140995" cy="5171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defRPr/>
            </a:pPr>
            <a:r>
              <a:rPr sz="4600" b="0" i="0" u="none">
                <a:solidFill>
                  <a:schemeClr val="tx1"/>
                </a:solidFill>
                <a:latin typeface="Carlito"/>
                <a:ea typeface="Arial"/>
                <a:cs typeface="Carlito"/>
              </a:rPr>
              <a:t> </a:t>
            </a:r>
            <a:r>
              <a:rPr lang="en-US" sz="4600" b="0" i="0" u="none" strike="noStrike" cap="none" spc="0">
                <a:solidFill>
                  <a:schemeClr val="tx1"/>
                </a:solidFill>
                <a:latin typeface="Carlito"/>
                <a:cs typeface="Carlito"/>
              </a:rPr>
              <a:t>Один юноша убиваясь заявил: "Я ничего не могу сделать как следует!", — после того, как самостоятельно достиг берега. Назовите город, в котором это произошло.</a:t>
            </a:r>
            <a:endParaRPr sz="4600" b="0" i="0" u="none">
              <a:solidFill>
                <a:schemeClr val="tx1"/>
              </a:solidFill>
              <a:latin typeface="Carlito"/>
              <a:ea typeface="Arial"/>
              <a:cs typeface="Carli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" name="Google Shape;204;p30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0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9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6" name="Google Shape;206;p30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433784" y="689061"/>
            <a:ext cx="11324431" cy="5241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 Сан-Франциско</a:t>
            </a:r>
            <a:endParaRPr lang="ru-RU"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pPr>
            <a:endParaRPr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pPr>
            <a:r>
              <a:rPr lang="ru-RU" sz="34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Комментарий:</a:t>
            </a:r>
            <a:r>
              <a:rPr lang="ru-RU" sz="3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3400" b="0" i="0" u="none" strike="noStrike" cap="none" spc="0">
                <a:solidFill>
                  <a:srgbClr val="000000"/>
                </a:solidFill>
                <a:latin typeface="Calibri"/>
                <a:cs typeface="Calibri"/>
              </a:rPr>
              <a:t>Это единственный зафиксированный случай, когда человеку удалось спрыгнуть с моста Золотые Ворота — знаменитого "моста самоубийц", — не получив серьезных травм. </a:t>
            </a:r>
            <a:endParaRPr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pPr>
            <a:endParaRPr sz="4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" name="Google Shape;211;p31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7220" y="1005840"/>
            <a:ext cx="11140995" cy="5171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pPr>
            <a:r>
              <a:rPr lang="ru-RU" sz="42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Одна из рецензий на фильм "Прокурор" называется "Жизнь в ЧЕТВЕРТОМ". Какие два слова мы заменили на "ЧЕТВЕРТЫЙ"?</a:t>
            </a:r>
            <a:endParaRPr sz="4200"/>
          </a:p>
        </p:txBody>
      </p:sp>
      <p:pic>
        <p:nvPicPr>
          <p:cNvPr id="212" name="Google Shape;212;p31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1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10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" name="Google Shape;218;p32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585926" y="763480"/>
            <a:ext cx="11172289" cy="5468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 </a:t>
            </a:r>
            <a:r>
              <a:rPr lang="ru-RU" sz="36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Винительный падеж</a:t>
            </a:r>
            <a:endParaRPr sz="360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/>
            </a:pPr>
            <a:endParaRPr/>
          </a:p>
        </p:txBody>
      </p:sp>
      <p:pic>
        <p:nvPicPr>
          <p:cNvPr id="219" name="Google Shape;219;p32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2" hidden="0"/>
          <p:cNvSpPr txBox="1"/>
          <p:nvPr isPhoto="0" userDrawn="0"/>
        </p:nvSpPr>
        <p:spPr bwMode="auto">
          <a:xfrm>
            <a:off x="433784" y="231170"/>
            <a:ext cx="1820318" cy="39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10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" name="Google Shape;225;p33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7220" y="1005840"/>
            <a:ext cx="11140995" cy="5171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pPr>
            <a:r>
              <a:rPr lang="ru-RU" sz="48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Одна героиня находится в безопасности до тех пор, пока по просьбе спецслужб записывает на магнитофон всё, что говорит её любовник. Эту героиню называют АЛЬФОЙ наоборот. Кого мы заменили на АЛЬФУ?</a:t>
            </a:r>
            <a:endParaRPr sz="4800"/>
          </a:p>
        </p:txBody>
      </p:sp>
      <p:pic>
        <p:nvPicPr>
          <p:cNvPr id="226" name="Google Shape;226;p33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3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11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" name="Google Shape;232;p34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426128" y="878888"/>
            <a:ext cx="11332087" cy="5237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  </a:t>
            </a:r>
            <a:r>
              <a:rPr lang="ru-RU" sz="36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Шахерезада</a:t>
            </a:r>
            <a:endParaRPr lang="ru-RU"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pPr>
            <a:endParaRPr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pPr>
            <a:r>
              <a:rPr lang="ru-RU" sz="34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Комментарий:</a:t>
            </a:r>
            <a:r>
              <a:rPr lang="ru-RU" sz="3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000" b="0" i="0" u="none">
                <a:solidFill>
                  <a:schemeClr val="tx1"/>
                </a:solidFill>
                <a:latin typeface="Carlito"/>
                <a:ea typeface="Arial"/>
                <a:cs typeface="Carlito"/>
              </a:rPr>
              <a:t>Шахерезада была жива, пока по ночам рассказывала любовнику истории, героиня Звягинцева — пока истории слушает.</a:t>
            </a:r>
            <a:endParaRPr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pPr>
            <a:endParaRPr sz="3600"/>
          </a:p>
        </p:txBody>
      </p:sp>
      <p:pic>
        <p:nvPicPr>
          <p:cNvPr id="233" name="Google Shape;233;p34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4" hidden="0"/>
          <p:cNvSpPr txBox="1"/>
          <p:nvPr isPhoto="0" userDrawn="0"/>
        </p:nvSpPr>
        <p:spPr bwMode="auto">
          <a:xfrm>
            <a:off x="205184" y="231170"/>
            <a:ext cx="1820318" cy="39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11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" name="Google Shape;239;p35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7220" y="1005840"/>
            <a:ext cx="11140995" cy="5171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pPr>
            <a:r>
              <a:rPr lang="ru-RU" sz="48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В настоящее время существуют две  разновидности АЛЬФ: для военных и для гражданских лиц.</a:t>
            </a:r>
            <a:r>
              <a:rPr lang="ru-RU" sz="48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 В старозаветные времена АЛЬФЫ были другими и их было в пять раз больше. Назовите АЛЬФЫ двумя словами.</a:t>
            </a:r>
            <a:endParaRPr sz="4800"/>
          </a:p>
        </p:txBody>
      </p:sp>
      <p:pic>
        <p:nvPicPr>
          <p:cNvPr id="240" name="Google Shape;240;p35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5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12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" name="Google Shape;246;p36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514904" y="852256"/>
            <a:ext cx="11327907" cy="5388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 </a:t>
            </a:r>
            <a:r>
              <a:rPr lang="ru-RU" sz="36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Египетские казни</a:t>
            </a:r>
            <a:endParaRPr lang="ru-RU" sz="3600" b="0" i="0" u="none" strike="noStrike" cap="none" spc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/>
            </a:pPr>
            <a:endParaRPr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/>
            </a:pPr>
            <a:r>
              <a:rPr lang="ru-RU" sz="34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Комментарий:</a:t>
            </a:r>
            <a:r>
              <a:rPr lang="ru-RU" sz="3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3400" b="0" i="0" u="none" strike="noStrike" cap="none" spc="0">
                <a:solidFill>
                  <a:srgbClr val="000000"/>
                </a:solidFill>
                <a:latin typeface="Calibri"/>
                <a:cs typeface="Calibri"/>
              </a:rPr>
              <a:t>Десять казней египетских — описанные в Пятикнижии бедствия, обрушившиеся на египтян за отказ египетского фараона освободить порабощенных сынов Израилевых. Первая казнь — превращение воды в кровь, вторая — нашествие жаб, третья — зловредные мошки, четвертая — песьи мухи, пятая — моровая язва, шестая — воспаление и нарывы, седьмая — град, восьмая — нашествие саранчи, девятая — тьма египетская, десятая — смерть первенцев. </a:t>
            </a:r>
            <a:endParaRPr sz="34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pPr>
            <a:endParaRPr sz="2800" b="1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pPr>
            <a:endParaRPr sz="2800"/>
          </a:p>
        </p:txBody>
      </p:sp>
      <p:pic>
        <p:nvPicPr>
          <p:cNvPr id="247" name="Google Shape;247;p36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6" hidden="0"/>
          <p:cNvSpPr txBox="1"/>
          <p:nvPr isPhoto="0" userDrawn="0"/>
        </p:nvSpPr>
        <p:spPr bwMode="auto">
          <a:xfrm>
            <a:off x="205184" y="231170"/>
            <a:ext cx="1820318" cy="39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12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" name="Google Shape;253;p37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7220" y="1005840"/>
            <a:ext cx="11140995" cy="5171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pPr>
            <a:r>
              <a:rPr lang="en-US" sz="4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48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Герой фильма, проснувшись, ни логическим анализом, ни с помощью образного мышления не может понять, где находится. Умываясь, герой отмечает, что хотя бы ЭТО он знает точно. Назовите ЭТО одним словом.</a:t>
            </a:r>
            <a:endParaRPr sz="4800"/>
          </a:p>
        </p:txBody>
      </p:sp>
      <p:pic>
        <p:nvPicPr>
          <p:cNvPr id="254" name="Google Shape;254;p37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7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13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" name="Google Shape;260;p38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497150" y="763479"/>
            <a:ext cx="11261065" cy="523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  полушарие</a:t>
            </a:r>
            <a:endParaRPr lang="ru-RU"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pPr>
            <a:endParaRPr lang="ru-RU"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pPr>
            <a:r>
              <a:rPr lang="ru-RU" sz="32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Комментарий:</a:t>
            </a:r>
            <a:r>
              <a:rPr lang="ru-RU" sz="32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3200" b="0" i="0" u="none" strike="noStrike" cap="none" spc="0">
                <a:solidFill>
                  <a:srgbClr val="000000"/>
                </a:solidFill>
                <a:latin typeface="Calibri"/>
                <a:cs typeface="Calibri"/>
              </a:rPr>
              <a:t>Ни одно полушарие мозга не помогло ему вспомнить подробности предыдущего вечера, а вот сила Кориолиса, закрутив воронку воды, подсказала, что дело происходит в северном полушарии Земли.</a:t>
            </a:r>
            <a:endParaRPr sz="32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pPr>
            <a:endParaRPr sz="3600"/>
          </a:p>
          <a:p>
            <a:pPr marL="0" lv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pPr>
            <a:endParaRPr/>
          </a:p>
          <a:p>
            <a:pPr marL="0" lv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/>
            </a:pPr>
            <a:endParaRPr sz="4400"/>
          </a:p>
        </p:txBody>
      </p:sp>
      <p:pic>
        <p:nvPicPr>
          <p:cNvPr id="261" name="Google Shape;261;p38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8" hidden="0"/>
          <p:cNvSpPr txBox="1"/>
          <p:nvPr isPhoto="0" userDrawn="0"/>
        </p:nvSpPr>
        <p:spPr bwMode="auto">
          <a:xfrm>
            <a:off x="205184" y="231170"/>
            <a:ext cx="1820318" cy="39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13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67" name="Google Shape;267;p39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9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14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9" name="Google Shape;269;p39" hidden="0"/>
          <p:cNvSpPr txBox="1"/>
          <p:nvPr isPhoto="0" userDrawn="0"/>
        </p:nvSpPr>
        <p:spPr bwMode="auto">
          <a:xfrm flipH="0" flipV="0">
            <a:off x="525501" y="689060"/>
            <a:ext cx="11140993" cy="5484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4400" b="0" i="0" u="none" strike="noStrike" cap="none" spc="0">
                <a:solidFill>
                  <a:srgbClr val="000000"/>
                </a:solidFill>
                <a:latin typeface="Arial"/>
                <a:cs typeface="Arial"/>
              </a:rPr>
              <a:t>В музее Солнца в эквадорском городе Сан-Антонио — два выхода. Что написано на каждом из них?</a:t>
            </a:r>
            <a:endParaRPr sz="4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Google Shape;274;p40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585926" y="896644"/>
            <a:ext cx="11172289" cy="536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  Северное/южное полушарие</a:t>
            </a:r>
            <a:endParaRPr lang="ru-RU"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pPr>
            <a:endParaRPr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pPr>
            <a:endParaRPr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pPr>
            <a:endParaRPr sz="3600"/>
          </a:p>
        </p:txBody>
      </p:sp>
      <p:pic>
        <p:nvPicPr>
          <p:cNvPr id="275" name="Google Shape;275;p40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0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14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Google Shape;281;p41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7220" y="1005840"/>
            <a:ext cx="11140995" cy="5171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pPr>
            <a:br>
              <a:rPr lang="ru-RU"/>
            </a:br>
            <a:br>
              <a:rPr lang="ru-RU"/>
            </a:br>
            <a:r>
              <a:rPr lang="ru-RU"/>
              <a:t>    </a:t>
            </a:r>
            <a:endParaRPr/>
          </a:p>
        </p:txBody>
      </p:sp>
      <p:pic>
        <p:nvPicPr>
          <p:cNvPr id="282" name="Google Shape;282;p41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1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15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4" name="Google Shape;284;p41" hidden="0"/>
          <p:cNvSpPr txBox="1"/>
          <p:nvPr isPhoto="0" userDrawn="0"/>
        </p:nvSpPr>
        <p:spPr bwMode="auto">
          <a:xfrm>
            <a:off x="617219" y="845798"/>
            <a:ext cx="11140995" cy="5171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42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Героиня книги очень любит собак, считая, что они стоЯт на ступень выше человека. В реплике героини о собаках упоминается восьмой ОН. Назовите ЕГО двумя словами.</a:t>
            </a:r>
            <a:endParaRPr sz="4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" name="Google Shape;289;p42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323850" y="905522"/>
            <a:ext cx="11544300" cy="5282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 день творения</a:t>
            </a:r>
            <a:endParaRPr lang="ru-RU" sz="3600"/>
          </a:p>
        </p:txBody>
      </p:sp>
      <p:pic>
        <p:nvPicPr>
          <p:cNvPr id="290" name="Google Shape;290;p42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42" hidden="0"/>
          <p:cNvSpPr txBox="1"/>
          <p:nvPr isPhoto="0" userDrawn="0"/>
        </p:nvSpPr>
        <p:spPr bwMode="auto">
          <a:xfrm>
            <a:off x="205184" y="231170"/>
            <a:ext cx="1820318" cy="39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15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6" name="Google Shape;296;p43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3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16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8" name="Google Shape;298;p43" hidden="0"/>
          <p:cNvSpPr txBox="1"/>
          <p:nvPr isPhoto="0" userDrawn="0"/>
        </p:nvSpPr>
        <p:spPr bwMode="auto">
          <a:xfrm>
            <a:off x="525502" y="923278"/>
            <a:ext cx="11140995" cy="559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42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В финале поставленного по произведению Пушкина спектакля главный герой из-за НЕЁ не может забрать цветы у зрителей. Назовите ЕЁ двумя словами.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" name="Google Shape;303;p44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4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16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5" name="Google Shape;305;p44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433784" y="861132"/>
            <a:ext cx="11426783" cy="4971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 </a:t>
            </a:r>
            <a:r>
              <a:rPr lang="ru-RU" sz="36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Смирительная рубашка</a:t>
            </a:r>
            <a:endParaRPr lang="ru-RU"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/>
            </a:pPr>
            <a:endParaRPr lang="ru-RU"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/>
            </a:pPr>
            <a:r>
              <a:rPr lang="ru-RU" sz="36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Комментарий:</a:t>
            </a:r>
            <a:r>
              <a:rPr lang="ru-RU" sz="36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3600" b="0" i="0" u="none" strike="noStrike" cap="none" spc="0">
                <a:solidFill>
                  <a:srgbClr val="000000"/>
                </a:solidFill>
                <a:latin typeface="Calibri"/>
                <a:cs typeface="Calibri"/>
              </a:rPr>
              <a:t>в финале "Пиковой дамы" Герман оказывается в сумасшедшем доме, поэтому на поклоны актер выходит со связанными руками.</a:t>
            </a:r>
            <a:endParaRPr lang="ru-RU"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/>
            </a:pPr>
            <a:endParaRPr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/>
            </a:pP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0" name="Google Shape;310;p45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5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17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2" name="Google Shape;312;p45" hidden="0"/>
          <p:cNvSpPr txBox="1"/>
          <p:nvPr isPhoto="0" userDrawn="0"/>
        </p:nvSpPr>
        <p:spPr bwMode="auto">
          <a:xfrm flipH="0" flipV="0">
            <a:off x="525501" y="689060"/>
            <a:ext cx="11140993" cy="5826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44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В сборнике устойчивых выражений отмечается, что ТАКОЙ ИКС — оксюморон, ведь само слово "ИКС" говорит о том, что продукт делили руками. Что мы заменили на "ТАКОЙ ИКС"?</a:t>
            </a:r>
            <a:endParaRPr lang="ru-RU" sz="4400" b="0" i="0" u="none" strike="noStrike" cap="none" spc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ru-RU" sz="4400" b="0" i="0" u="none" strike="noStrike" cap="none" spc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7" name="Google Shape;317;p46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6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17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9" name="Google Shape;319;p46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525224" y="1005839"/>
            <a:ext cx="11141551" cy="498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 Отрезанный ломоть</a:t>
            </a:r>
            <a:endParaRPr lang="ru-RU"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/>
            </a:pPr>
            <a:endParaRPr lang="ru-RU"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/>
            </a:pPr>
            <a:r>
              <a:rPr lang="ru-RU" sz="36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Комментарий:</a:t>
            </a:r>
            <a:r>
              <a:rPr lang="ru-RU" sz="36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3600" b="0" i="0" u="none" strike="noStrike" cap="none" spc="0">
                <a:solidFill>
                  <a:srgbClr val="000000"/>
                </a:solidFill>
                <a:latin typeface="Calibri"/>
                <a:cs typeface="Calibri"/>
              </a:rPr>
              <a:t>хлеб ломали, а не резали, отсюда и слово "ломоть".</a:t>
            </a:r>
            <a:endParaRPr lang="ru-RU" sz="36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 marL="0" lv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24" name="Google Shape;324;p47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7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18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6" name="Google Shape;326;p47" hidden="0"/>
          <p:cNvSpPr txBox="1"/>
          <p:nvPr isPhoto="0" userDrawn="0"/>
        </p:nvSpPr>
        <p:spPr bwMode="auto">
          <a:xfrm>
            <a:off x="525502" y="1005841"/>
            <a:ext cx="11140995" cy="5509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44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Однажды</a:t>
            </a:r>
            <a:r>
              <a:rPr lang="ru-RU" sz="44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 Владимиру Дантесу сказали, что фамилия у него ТАКАЯ, но СЯКАЯ. Назовите слова, которые мы заменили словами ТАКАЯ и СЯКАЯ.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1" name="Google Shape;331;p48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8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18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3" name="Google Shape;333;p48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754602"/>
            <a:ext cx="11141551" cy="4838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/>
            </a:pPr>
            <a:r>
              <a:rPr lang="ru-RU" sz="3600" b="1"/>
              <a:t>Ответ: </a:t>
            </a:r>
            <a:r>
              <a:rPr lang="ru-RU" sz="36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Редкая/меткая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8" name="Google Shape;338;p49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9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19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0" name="Google Shape;340;p49" hidden="0"/>
          <p:cNvSpPr txBox="1"/>
          <p:nvPr isPhoto="0" userDrawn="0"/>
        </p:nvSpPr>
        <p:spPr bwMode="auto">
          <a:xfrm>
            <a:off x="525501" y="886619"/>
            <a:ext cx="11140995" cy="5171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defRPr/>
            </a:pPr>
            <a:r>
              <a:rPr lang="ru-RU" sz="42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Согласно морской традиции, ЕЁ можно сохранить и сделать оберегом корабля. Герои одного фильма улетели на НЕЙ со стола гигантского людоеда. Назовите ЕЁ тремя словами.</a:t>
            </a:r>
            <a:endParaRPr lang="ru-RU" sz="4200" b="0" i="0" u="none" strike="noStrike" cap="none" spc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ru-RU" sz="4200" b="0" i="0" u="none" strike="noStrike" cap="none" spc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5" name="Google Shape;345;p50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50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19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7" name="Google Shape;347;p50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433784" y="689061"/>
            <a:ext cx="11324431" cy="5756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 Пробка от шампанского</a:t>
            </a:r>
            <a:endParaRPr lang="ru-RU"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/>
            </a:pPr>
            <a:endParaRPr sz="3600"/>
          </a:p>
          <a:p>
            <a:pPr marL="0" lv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/>
            </a:pPr>
            <a:endParaRPr sz="4400"/>
          </a:p>
          <a:p>
            <a:pPr marL="0" lv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/>
            </a:pPr>
            <a:endParaRPr sz="5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" name="Google Shape;352;p51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51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20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4" name="Google Shape;354;p51" hidden="0"/>
          <p:cNvSpPr txBox="1"/>
          <p:nvPr isPhoto="0" userDrawn="0"/>
        </p:nvSpPr>
        <p:spPr bwMode="auto">
          <a:xfrm>
            <a:off x="433783" y="689061"/>
            <a:ext cx="11140995" cy="5792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defRPr/>
            </a:pPr>
            <a:r>
              <a:rPr lang="ru-RU" sz="40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Метод рентгеновской томографии позволяет изучать внутреннюю структуру объектов. Для автора вопроса стало сюрпризом то, что в одной из немецких лабораторий тестовым образцом для отладки аппаратуры служит ИКС. Назовите ИКС словом через дефис.</a:t>
            </a:r>
            <a:endParaRPr sz="4000" b="0" i="0" u="none" strike="noStrike" cap="none" spc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" name="Google Shape;359;p52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52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20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1" name="Google Shape;361;p52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896644"/>
            <a:ext cx="11141551" cy="4758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 Киндер-сюрприз</a:t>
            </a:r>
            <a:endParaRPr lang="ru-RU"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/>
            </a:pPr>
            <a:endParaRPr sz="360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None/>
              <a:defRPr/>
            </a:pPr>
            <a:r>
              <a:rPr lang="ru-RU" sz="2800"/>
              <a:t>	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6" name="Google Shape;366;p53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53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21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8" name="Google Shape;368;p53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1727518"/>
            <a:ext cx="11141551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/>
            </a:pPr>
            <a:r>
              <a:rPr lang="ru-RU" sz="3200"/>
              <a:t>	</a:t>
            </a:r>
            <a:endParaRPr sz="3200"/>
          </a:p>
        </p:txBody>
      </p:sp>
      <p:sp>
        <p:nvSpPr>
          <p:cNvPr id="369" name="Google Shape;369;p53" hidden="0"/>
          <p:cNvSpPr/>
          <p:nvPr isPhoto="0" userDrawn="0"/>
        </p:nvSpPr>
        <p:spPr bwMode="auto">
          <a:xfrm flipH="0" flipV="0">
            <a:off x="502499" y="804275"/>
            <a:ext cx="10956298" cy="5545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4200" b="0" i="0" u="none" strike="noStrike" cap="none" spc="0">
                <a:solidFill>
                  <a:srgbClr val="000000"/>
                </a:solidFill>
                <a:latin typeface="Calibri"/>
                <a:cs typeface="Calibri"/>
              </a:rPr>
              <a:t>Рассказывая о школьниках, которые до слёз не желают идти в школу, литературовед в начальной строке известного стихотворения ВТОРОЙ заменил ДЕВЯТЫМ. Назовите автора этого стихотворения.</a:t>
            </a:r>
            <a:endParaRPr sz="4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4" name="Google Shape;374;p54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54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21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6" name="Google Shape;376;p54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 flipH="0" flipV="0">
            <a:off x="433783" y="689060"/>
            <a:ext cx="11324430" cy="528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/>
            </a:pPr>
            <a:r>
              <a:rPr lang="ru-RU" sz="3600" b="1"/>
              <a:t>Ответ: </a:t>
            </a:r>
            <a:r>
              <a:rPr lang="ru-RU" sz="36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Пастернак</a:t>
            </a:r>
            <a:endParaRPr lang="ru-RU" sz="3600" b="0" i="0" u="none" strike="noStrike" cap="none" spc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/>
            </a:pPr>
            <a:endParaRPr lang="ru-RU" sz="3600"/>
          </a:p>
          <a:p>
            <a:pPr algn="ctr">
              <a:defRPr/>
            </a:pPr>
            <a:r>
              <a:rPr lang="ru-RU" sz="3200" b="1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Комментарий: </a:t>
            </a:r>
            <a:r>
              <a:rPr lang="ru-RU" sz="32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Февраль. Достать чернил и плакать!</a:t>
            </a:r>
            <a:endParaRPr sz="3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 algn="ctr">
              <a:defRPr/>
            </a:pPr>
            <a:r>
              <a:rPr lang="ru-RU" sz="32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Писать о феврале навзрыд,</a:t>
            </a:r>
            <a:endParaRPr sz="3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/>
            </a:pPr>
            <a:r>
              <a:rPr lang="ru-RU" sz="32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Пока грохочущая слякоть</a:t>
            </a:r>
            <a:endParaRPr lang="ru-RU" sz="3200" b="0" i="0" u="none" strike="noStrike" cap="none" spc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/>
            </a:pPr>
            <a:r>
              <a:rPr lang="ru-RU" sz="3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...</a:t>
            </a:r>
            <a:endParaRPr lang="ru-RU" sz="32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/>
            </a:pPr>
            <a:endParaRPr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pPr>
            <a:endParaRPr sz="2800" b="1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1" name="Google Shape;381;p55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55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22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3" name="Google Shape;383;p55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864973"/>
            <a:ext cx="11141551" cy="5553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None/>
              <a:defRPr/>
            </a:pPr>
            <a:r>
              <a:rPr lang="ru-RU" sz="40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Историк рассказывает, что заговорщики, перед тем как убить Григория Распутина, провели репетицию и отравили всех ИХ Распутина. Назовите ИХ.</a:t>
            </a:r>
            <a:endParaRPr sz="4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8" name="Google Shape;388;p56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56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22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0" name="Google Shape;390;p56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877329"/>
            <a:ext cx="11141551" cy="5123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 </a:t>
            </a:r>
            <a:r>
              <a:rPr lang="ru-RU" sz="36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Кошек</a:t>
            </a:r>
            <a:endParaRPr lang="ru-RU"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endParaRPr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95" name="Google Shape;395;p57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57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23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7" name="Google Shape;397;p57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689061"/>
            <a:ext cx="11141551" cy="5303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None/>
              <a:defRPr/>
            </a:pPr>
            <a:r>
              <a:rPr lang="ru-RU" sz="4400" b="0" i="0" u="none" strike="noStrike" cap="none" spc="0">
                <a:solidFill>
                  <a:srgbClr val="000000"/>
                </a:solidFill>
                <a:latin typeface="Calibri"/>
                <a:cs typeface="Calibri"/>
              </a:rPr>
              <a:t>20 июля, после ряда испытаний, наступил звездный час фирмы "Омега", её продукция оказалась на Базе. В каком году это произошло?</a:t>
            </a:r>
            <a:endParaRPr sz="44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2" name="Google Shape;402;p58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8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23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4" name="Google Shape;404;p58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864973"/>
            <a:ext cx="11141551" cy="4423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 1969</a:t>
            </a:r>
            <a:endParaRPr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pPr>
            <a:endParaRPr sz="2800" b="1"/>
          </a:p>
          <a:p>
            <a:pPr marL="0" lv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/>
            </a:pPr>
            <a:endParaRPr/>
          </a:p>
          <a:p>
            <a:pPr marL="0" lv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/>
            </a:pPr>
            <a:r>
              <a:rPr lang="ru-RU" sz="3200"/>
              <a:t>	</a:t>
            </a:r>
            <a:endParaRPr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9" name="Google Shape;409;p59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59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24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1" name="Google Shape;411;p59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799069"/>
            <a:ext cx="11141551" cy="5688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pPr>
            <a:r>
              <a:rPr lang="ru-RU" sz="42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Актер из рассказа Чапека настолько правдоподобно играл паралитика, что на его спектакли приходили ОНИ. Назовите писателя, который был ИМ с 1879 по 1884 год.</a:t>
            </a:r>
            <a:endParaRPr sz="4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6" name="Google Shape;416;p60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60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24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8" name="Google Shape;418;p60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689061"/>
            <a:ext cx="11141551" cy="5560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r>
              <a:rPr lang="ru-RU" sz="3600" b="1"/>
              <a:t>Ответ: </a:t>
            </a:r>
            <a:r>
              <a:rPr lang="ru-RU" sz="36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Чехов</a:t>
            </a:r>
            <a:endParaRPr sz="3600"/>
          </a:p>
          <a:p>
            <a:pPr marL="0" lv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/>
            </a:pPr>
            <a:endParaRPr sz="4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3" name="Google Shape;423;p61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61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25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5" name="Google Shape;425;p61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 flipH="0" flipV="0">
            <a:off x="616663" y="689060"/>
            <a:ext cx="11141550" cy="5597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algn="just">
              <a:defRPr/>
            </a:pPr>
            <a:r>
              <a:rPr lang="ru-RU" sz="4800" b="0" i="0" u="none" strike="noStrike" cap="none" spc="0">
                <a:solidFill>
                  <a:srgbClr val="000000"/>
                </a:solidFill>
                <a:latin typeface="Calibri"/>
                <a:cs typeface="Calibri"/>
              </a:rPr>
              <a:t>Героиня романа Терри Пратчетта "Ведьмы за границей" опускает руку в огонь. Что в этот момент загорается в руках другой героини?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0" name="Google Shape;430;p62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62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25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2" name="Google Shape;432;p62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790832"/>
            <a:ext cx="11141551" cy="529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r>
              <a:rPr lang="ru-RU" sz="3600" b="1"/>
              <a:t>Ответ: </a:t>
            </a:r>
            <a:r>
              <a:rPr lang="ru-RU" sz="3600"/>
              <a:t>Кукла-вуду</a:t>
            </a:r>
            <a:endParaRPr sz="3600"/>
          </a:p>
          <a:p>
            <a:pPr marL="0" lv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/>
            </a:pPr>
            <a:r>
              <a:rPr lang="ru-RU" sz="4400"/>
              <a:t>	</a:t>
            </a:r>
            <a:endParaRPr sz="4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7" name="Google Shape;437;p63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63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26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9" name="Google Shape;439;p63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689061"/>
            <a:ext cx="11141551" cy="555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pPr>
            <a:r>
              <a:rPr lang="ru-RU" sz="48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Согласно шутке, лучше всего ОН виден, если наблюдать вечером за потоком машин на автостраде. Назовите ЕГО двумя словами.</a:t>
            </a:r>
            <a:endParaRPr sz="4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" name="Google Shape;444;p64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64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26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6" name="Google Shape;446;p64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1005840"/>
            <a:ext cx="11141551" cy="490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 </a:t>
            </a:r>
            <a:r>
              <a:rPr lang="ru-RU" sz="36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Эффект Доплера</a:t>
            </a:r>
            <a:endParaRPr sz="3600"/>
          </a:p>
          <a:p>
            <a:pPr marL="0" lv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/>
            </a:pPr>
            <a:endParaRPr sz="4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1" name="Google Shape;451;p65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65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27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3" name="Google Shape;453;p65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689061"/>
            <a:ext cx="11141551" cy="569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defRPr/>
            </a:pPr>
            <a:r>
              <a:rPr lang="ru-RU" sz="4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44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1. Герои Майка Резника узнаЮт, что вместо освоения планеты можно доставлять ее ресурсы в любую точку галактики. Какое имя при этом упоминается?</a:t>
            </a:r>
            <a:endParaRPr lang="ru-RU" sz="44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pPr>
            <a:r>
              <a:rPr lang="ru-RU" sz="44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    2. Герой Нила Геймана, иностранец в Нью-Йорке, отмечает удобство расположения идущих с севера на юг авеню и с запада на восток стритов. Какой топоним при этом упоминается?</a:t>
            </a:r>
            <a:endParaRPr sz="4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8" name="Google Shape;458;p66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66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27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0" name="Google Shape;460;p66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840259"/>
            <a:ext cx="11141700" cy="5161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defRPr/>
            </a:pPr>
            <a:r>
              <a:rPr lang="ru-RU" sz="4400" b="1"/>
              <a:t>Ответ:</a:t>
            </a:r>
            <a:r>
              <a:rPr lang="ru-RU" sz="4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44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1. Магомет (Мухаммед, Мохаммед)</a:t>
            </a:r>
            <a:endParaRPr lang="ru-RU" sz="44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pPr>
            <a:r>
              <a:rPr lang="ru-RU" sz="44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             2. Мекка.</a:t>
            </a:r>
            <a:endParaRPr sz="44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pPr>
            <a:endParaRPr lang="ru-RU" sz="4400"/>
          </a:p>
          <a:p>
            <a:pPr algn="just">
              <a:defRPr/>
            </a:pPr>
            <a:r>
              <a:rPr lang="ru-RU" sz="3800" b="1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Комментарий:</a:t>
            </a:r>
            <a:r>
              <a:rPr lang="ru-RU" sz="3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ru-RU" sz="38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 </a:t>
            </a:r>
            <a:endParaRPr sz="38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 algn="just">
              <a:defRPr/>
            </a:pPr>
            <a:r>
              <a:rPr lang="ru-RU" sz="38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1. Если герои не могут прийти к планете, то пусть она придет к ним.</a:t>
            </a:r>
            <a:endParaRPr sz="38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pPr>
            <a:r>
              <a:rPr lang="ru-RU" sz="38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2. В Нью-Йорке выходец из мусульманской страны всегда знает, куда ему повернуться так, чтобы стать лицом к Мекке.</a:t>
            </a:r>
            <a:endParaRPr sz="38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pPr>
            <a:endParaRPr sz="44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pPr>
            <a:r>
              <a:rPr lang="ru-RU" sz="4400"/>
              <a:t>	</a:t>
            </a:r>
            <a:endParaRPr/>
          </a:p>
          <a:p>
            <a:pPr marL="0" lv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/>
            </a:pPr>
            <a:r>
              <a:rPr lang="ru-RU" sz="3200"/>
              <a:t>	</a:t>
            </a:r>
            <a:endParaRPr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65" name="Google Shape;465;p67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67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28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7" name="Google Shape;467;p67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1727518"/>
            <a:ext cx="11141551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/>
            </a:pPr>
            <a:r>
              <a:rPr lang="ru-RU" sz="3200"/>
              <a:t>	</a:t>
            </a:r>
            <a:endParaRPr sz="3200"/>
          </a:p>
        </p:txBody>
      </p:sp>
      <p:sp>
        <p:nvSpPr>
          <p:cNvPr id="468" name="Google Shape;468;p67" hidden="0"/>
          <p:cNvSpPr/>
          <p:nvPr isPhoto="0" userDrawn="0"/>
        </p:nvSpPr>
        <p:spPr bwMode="auto">
          <a:xfrm>
            <a:off x="518984" y="689060"/>
            <a:ext cx="11178746" cy="5316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/>
            </a:pPr>
            <a:r>
              <a:rPr lang="en-US" sz="4200" b="0" i="0" u="none" strike="noStrike" cap="none" spc="0">
                <a:solidFill>
                  <a:srgbClr val="000000"/>
                </a:solidFill>
                <a:latin typeface="Calibri"/>
                <a:cs typeface="Calibri"/>
              </a:rPr>
              <a:t>В поставленном по произведению Булгакова спектакле одного из театров этот персонаж всегда выходит на сцену из-за правой кулисы, а скрывается за левой. Назовите этого персонажа.</a:t>
            </a:r>
            <a:endParaRPr sz="4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4" name="Google Shape;474;p68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68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28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6" name="Google Shape;476;p68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815545"/>
            <a:ext cx="11141551" cy="5496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 Людовик XIV</a:t>
            </a:r>
            <a:endParaRPr lang="ru-RU"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endParaRPr sz="32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r>
              <a:rPr lang="ru-RU" sz="3200" b="1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Комментарий:</a:t>
            </a:r>
            <a:r>
              <a:rPr lang="ru-RU" sz="32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Людовик появляется на сцене подобно солнцу, встающему на востоке и садящемуся на западе. Ведь, как известно, на картах восток всегда находится справа, а запад слева. Произведение Булгакова — "Жизнь господина де Мольера".</a:t>
            </a:r>
            <a:endParaRPr lang="ru-RU" sz="3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 marL="0" lv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/>
            </a:pPr>
            <a:endParaRPr sz="4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1" name="Google Shape;481;p69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69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29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3" name="Google Shape;483;p69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502508" y="807308"/>
            <a:ext cx="11255707" cy="5593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defRPr/>
            </a:pPr>
            <a:r>
              <a:rPr lang="ru-RU" sz="46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4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42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В конце девяностых годов прошлого века ансамбль "4'33"" записал саундтрек к фильму по повести Ренаты Литвиновой. Назовите этот фильм.</a:t>
            </a:r>
            <a:endParaRPr sz="4200" b="0" i="0" u="none" strike="noStrike" cap="none" spc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8" name="Google Shape;488;p70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70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29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0" name="Google Shape;490;p70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 flipH="0" flipV="0">
            <a:off x="616663" y="815545"/>
            <a:ext cx="11141550" cy="4975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 </a:t>
            </a:r>
            <a:r>
              <a:rPr lang="ru-RU" sz="36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Страна глухих</a:t>
            </a:r>
            <a:endParaRPr lang="ru-RU" sz="36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endParaRPr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r>
              <a:rPr lang="ru-RU" sz="32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Комментарий:</a:t>
            </a:r>
            <a:r>
              <a:rPr lang="ru-RU" sz="32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3200" b="0" i="0" u="none" strike="noStrike" cap="none" spc="0">
                <a:solidFill>
                  <a:srgbClr val="000000"/>
                </a:solidFill>
                <a:latin typeface="Calibri"/>
                <a:cs typeface="Calibri"/>
              </a:rPr>
              <a:t>Название ансамбля является отсылкой к произведению Джона Кейджа "4'33"", которое, как известно, представляет собой фрагмент тишины. В связи с этим написание саундтрека к фильму "Страна глухих" особенно символично. Фильм поставлен по повести Ренаты Литвиновой "Обладать и принадлежать".</a:t>
            </a:r>
            <a:endParaRPr sz="3600" b="1"/>
          </a:p>
          <a:p>
            <a:pPr marL="0" lv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/>
            </a:pPr>
            <a:r>
              <a:rPr lang="ru-RU" sz="4400"/>
              <a:t>	</a:t>
            </a:r>
            <a:endParaRPr sz="4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5" name="Google Shape;495;p71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71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30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7" name="Google Shape;497;p71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689061"/>
            <a:ext cx="11141551" cy="555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defRPr/>
            </a:pPr>
            <a:r>
              <a:rPr lang="ru-RU" sz="4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44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 </a:t>
            </a:r>
            <a:r>
              <a:rPr lang="ru-RU" sz="44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Путешествующий по Тибету герой Альфреда ШклЯрского сравнивает следы на снегу с ЭТИМ. При изготовлении одной из тибетских разновидностей ЭТОГО использовалось более ста человеческих черепов. Назовите ЭТО.</a:t>
            </a:r>
            <a:endParaRPr sz="44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" name="Google Shape;502;p72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72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30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4" name="Google Shape;504;p72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 flipH="0" flipV="0">
            <a:off x="616663" y="827902"/>
            <a:ext cx="11141550" cy="5306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 Чётки</a:t>
            </a:r>
            <a:endParaRPr lang="ru-RU"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pPr>
            <a:endParaRPr sz="3200" b="1">
              <a:solidFill>
                <a:srgbClr val="000000"/>
              </a:solidFill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pPr>
            <a:endParaRPr lang="en-US" sz="3200" b="1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pPr>
            <a:r>
              <a:rPr lang="en-US" sz="3200" b="1" i="0" u="none" strike="noStrike" cap="none" spc="0">
                <a:solidFill>
                  <a:srgbClr val="000000"/>
                </a:solidFill>
                <a:latin typeface="Calibri"/>
                <a:cs typeface="Calibri"/>
              </a:rPr>
              <a:t>Комментарий: </a:t>
            </a:r>
            <a:r>
              <a:rPr lang="en-US" sz="3200" b="0" i="0" u="none" strike="noStrike" cap="none" spc="0">
                <a:solidFill>
                  <a:srgbClr val="000000"/>
                </a:solidFill>
                <a:latin typeface="Calibri"/>
                <a:cs typeface="Calibri"/>
              </a:rPr>
              <a:t>Следы на снегу напомнили герою зёрна громадных четок. Одну из разновидностей четок в Тибете делали из лобных костей человеческих черепов, причем черепов нужно было 108 штук — по числу страстей в буддизме.</a:t>
            </a:r>
            <a:endParaRPr sz="32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pPr>
            <a:endParaRPr/>
          </a:p>
          <a:p>
            <a:pPr marL="0" lv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/>
            </a:pPr>
            <a:endParaRPr sz="4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9" name="Google Shape;509;p73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73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31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1" name="Google Shape;511;p73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518984" y="782595"/>
            <a:ext cx="11239231" cy="5593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pPr>
            <a:r>
              <a:rPr lang="en-US" sz="42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Считается, что при близком контакте с любимым человеком облетает АУРА. Раньше люди, работавшие с АУРОЙ, нередко умирали от отравления. Какое слово мы заменили "АУРОЙ"?</a:t>
            </a:r>
            <a:endParaRPr sz="4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6" name="Google Shape;516;p74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74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31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8" name="Google Shape;518;p74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689061"/>
            <a:ext cx="11141551" cy="445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 </a:t>
            </a:r>
            <a:r>
              <a:rPr lang="ru-RU" sz="36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позолота</a:t>
            </a:r>
            <a:endParaRPr lang="ru-RU"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endParaRPr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endParaRPr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pPr>
            <a:endParaRPr sz="2800" b="1">
              <a:solidFill>
                <a:srgbClr val="000000"/>
              </a:solidFill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pPr>
            <a:r>
              <a:rPr lang="ru-RU" sz="4400"/>
              <a:t> 	</a:t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3" name="Google Shape;523;p75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75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32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5" name="Google Shape;525;p75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433784" y="757881"/>
            <a:ext cx="11324431" cy="555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pPr>
            <a:r>
              <a:rPr lang="ru-RU" sz="42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Плутарх пишет, что когда царице Клеопатре принесли змею в кувшине с узким горлышком, та была сонной. Чтобы разбудить змею, царица использовала ЕГО. В произведении европейского писателя ОНО также играет важную роль. Назовите ЕГО.</a:t>
            </a:r>
            <a:endParaRPr sz="4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0" name="Google Shape;530;p76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76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32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2" name="Google Shape;532;p76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689061"/>
            <a:ext cx="11141551" cy="5143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 Веретено</a:t>
            </a:r>
            <a:endParaRPr lang="ru-RU"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endParaRPr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r>
              <a:rPr lang="ru-RU" sz="36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Комментарий:</a:t>
            </a:r>
            <a:r>
              <a:rPr lang="ru-RU" sz="36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3600" b="0" i="0" u="none" strike="noStrike" cap="none" spc="0">
                <a:solidFill>
                  <a:srgbClr val="000000"/>
                </a:solidFill>
                <a:latin typeface="Calibri"/>
                <a:cs typeface="Calibri"/>
              </a:rPr>
              <a:t>По словам Плутарха, Клеопатра выманивала змею из кувшина, дразня ее золотым веретеном, после чего та выползла и укусила ее. Возможно, Шарль Перро был знаком с этой историей.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7" name="Google Shape;537;p77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77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33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9" name="Google Shape;539;p77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 flipH="0" flipV="0">
            <a:off x="433783" y="777874"/>
            <a:ext cx="11324430" cy="5619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7" rIns="91422" bIns="45697" anchor="t" anchorCtr="0">
            <a:noAutofit/>
          </a:bodyPr>
          <a:lstStyle/>
          <a:p>
            <a:pPr algn="just">
              <a:defRPr/>
            </a:pPr>
            <a:r>
              <a:rPr lang="ru-RU" sz="44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Один поезд врезался в стадо коров. В разных СМИ количество погибших коров указывалось разное, но в самой актуальной и свежей новости об этом происшествии данной буквально одной строкой было указано такое их количество. Какое?</a:t>
            </a:r>
            <a:endParaRPr lang="ru-RU" sz="44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 algn="just">
              <a:defRPr/>
            </a:pPr>
            <a:endParaRPr sz="4400" b="0" i="0" u="none" strike="noStrike" cap="none" spc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4" name="Google Shape;544;p78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78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33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6" name="Google Shape;546;p78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433784" y="689061"/>
            <a:ext cx="11324431" cy="5575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  33</a:t>
            </a:r>
            <a:endParaRPr sz="3600"/>
          </a:p>
          <a:p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/>
            </a:pPr>
            <a:endParaRPr sz="28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" name="Google Shape;551;p79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79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34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3" name="Google Shape;553;p79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1727518"/>
            <a:ext cx="11141551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/>
            </a:pPr>
            <a:r>
              <a:rPr lang="ru-RU" sz="3200"/>
              <a:t>	</a:t>
            </a:r>
            <a:endParaRPr sz="3200"/>
          </a:p>
        </p:txBody>
      </p:sp>
      <p:sp>
        <p:nvSpPr>
          <p:cNvPr id="554" name="Google Shape;554;p79" hidden="0"/>
          <p:cNvSpPr/>
          <p:nvPr isPhoto="0" userDrawn="0"/>
        </p:nvSpPr>
        <p:spPr bwMode="auto">
          <a:xfrm flipH="0" flipV="0">
            <a:off x="433783" y="823782"/>
            <a:ext cx="10684642" cy="5515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4400" b="0" i="0" u="none" strike="noStrike" cap="none" spc="0">
                <a:solidFill>
                  <a:srgbClr val="000000"/>
                </a:solidFill>
                <a:latin typeface="Calibri"/>
                <a:cs typeface="Calibri"/>
              </a:rPr>
              <a:t>Обсуждая неизбежность ранних подъемов, читатель одного из форумов рассказывал, что пережить стадии утреннего пробуждения ему помогают пять будильников. Этим будильникам он дал имена. Назовите последнее из них.</a:t>
            </a:r>
            <a:endParaRPr sz="4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9" name="Google Shape;559;p80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80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34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1" name="Google Shape;561;p80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689061"/>
            <a:ext cx="11141551" cy="523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 </a:t>
            </a:r>
            <a:r>
              <a:rPr lang="ru-RU" sz="36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Принятие</a:t>
            </a:r>
            <a:endParaRPr lang="ru-RU" sz="3600" b="0" i="0" u="none" strike="noStrike" cap="none" spc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pPr>
            <a:endParaRPr sz="3600"/>
          </a:p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pPr>
            <a:endParaRPr sz="3600"/>
          </a:p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pPr>
            <a:endParaRPr sz="6000"/>
          </a:p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pPr>
            <a:r>
              <a:rPr lang="ru-RU" sz="6000"/>
              <a:t> </a:t>
            </a:r>
            <a:r>
              <a:rPr lang="ru-RU" sz="4400"/>
              <a:t>	</a:t>
            </a:r>
            <a:endParaRPr sz="4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6" name="Google Shape;566;p81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 flipH="0" flipV="0">
            <a:off x="573124" y="1017380"/>
            <a:ext cx="11185089" cy="5332618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clip" vert="horz" wrap="square" lIns="91422" tIns="45696" rIns="91422" bIns="45696" numCol="1" spcCol="0" rtlCol="0" fromWordArt="0" anchor="t" anchorCtr="0" forceAA="0" upright="0" compatLnSpc="0">
            <a:normAutofit/>
          </a:bodyPr>
          <a:lstStyle/>
          <a:p>
            <a:pPr marL="457200" lvl="0" indent="-4064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54054"/>
              <a:buNone/>
              <a:defRPr/>
            </a:pPr>
            <a:r>
              <a:rPr lang="ru-RU" sz="48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По словам Александра Гениса, в романе "Война и мир" использован простой язык, и нарядные слова у Толстого — как ОНИ в курятнике. "Петушок" и "Курочка" — ОНИ. Назовите ИХ.</a:t>
            </a:r>
            <a:endParaRPr sz="4800"/>
          </a:p>
        </p:txBody>
      </p:sp>
      <p:pic>
        <p:nvPicPr>
          <p:cNvPr id="567" name="Google Shape;567;p81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81" hidden="0"/>
          <p:cNvSpPr txBox="1"/>
          <p:nvPr isPhoto="0" userDrawn="0"/>
        </p:nvSpPr>
        <p:spPr bwMode="auto">
          <a:xfrm>
            <a:off x="439110" y="242711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35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3" name="Google Shape;573;p82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82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35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5" name="Google Shape;575;p82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433784" y="941033"/>
            <a:ext cx="11324431" cy="5291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 </a:t>
            </a:r>
            <a:r>
              <a:rPr lang="ru-RU" sz="36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Яйца Фаберже</a:t>
            </a:r>
            <a:endParaRPr lang="ru-RU"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endParaRPr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0" name="Google Shape;580;p83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83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36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2" name="Google Shape;582;p83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848497"/>
            <a:ext cx="11141551" cy="521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pPr>
            <a:r>
              <a:rPr lang="ru-RU" sz="48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Литературовед пишет, что ОНА вела не в небо, а в светлое будущее. Назовите ЕЁ двумя словами, которые начинаются на соседние буквы алфавита.</a:t>
            </a:r>
            <a:endParaRPr sz="4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7" name="Google Shape;587;p84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84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36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9" name="Google Shape;589;p84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497150" y="878888"/>
            <a:ext cx="11261065" cy="533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 </a:t>
            </a:r>
            <a:r>
              <a:rPr lang="ru-RU" sz="36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Лесенка Маяковского</a:t>
            </a:r>
            <a:endParaRPr lang="ru-RU" sz="3600" b="0" i="0" u="none" strike="noStrike" cap="none" spc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lv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/>
            </a:pPr>
            <a:endParaRPr sz="4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4" name="Google Shape;594;p85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85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37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6" name="Google Shape;596;p85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832022"/>
            <a:ext cx="11141551" cy="5049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pPr>
            <a:r>
              <a:rPr lang="ru-RU" sz="40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В повести Куприна военный, выслушивая непонятные для него объяснения, просит собеседника: "ИКС, ИКС!", на что получает шутливый ответ: "За ИКС деньги платят". Назовите ИКС одним словом.</a:t>
            </a:r>
            <a:endParaRPr sz="4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1" name="Google Shape;601;p86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86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37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3" name="Google Shape;603;p86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550416" y="887766"/>
            <a:ext cx="11207799" cy="506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r>
              <a:rPr lang="ru-RU" sz="3600" b="1"/>
              <a:t>Ответ: </a:t>
            </a:r>
            <a:r>
              <a:rPr lang="ru-RU" sz="3600" b="0"/>
              <a:t>Постой</a:t>
            </a:r>
            <a:endParaRPr lang="ru-RU" sz="3600" b="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endParaRPr b="0"/>
          </a:p>
          <a:p>
            <a:pPr marL="0" lv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/>
            </a:pPr>
            <a:endParaRPr sz="4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8" name="Google Shape;608;p87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87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38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0" name="Google Shape;610;p87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782595"/>
            <a:ext cx="11141551" cy="5272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pPr>
            <a:r>
              <a:rPr lang="ru-RU" sz="40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В восьмидесятых годах журнал "Вокруг света" с возмущением писал, что некоторые зарубежные писатели считают космос звездным. Какие девять символов мы пропустили в этом вопросе?</a:t>
            </a:r>
            <a:endParaRPr sz="4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5" name="Google Shape;615;p88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88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38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7" name="Google Shape;617;p88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550416" y="1005840"/>
            <a:ext cx="11207799" cy="4999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/>
            </a:pPr>
            <a:r>
              <a:rPr lang="ru-RU" sz="3600" b="1"/>
              <a:t>Ответ:</a:t>
            </a:r>
            <a:r>
              <a:rPr lang="ru-RU" sz="3600"/>
              <a:t> </a:t>
            </a:r>
            <a:r>
              <a:rPr lang="ru-RU" sz="3600" b="0" i="0" u="none" strike="noStrike" cap="none" spc="0">
                <a:solidFill>
                  <a:schemeClr val="dk1"/>
                </a:solidFill>
                <a:latin typeface="Calibri"/>
                <a:cs typeface="Calibri"/>
              </a:rPr>
              <a:t>о-полосат</a:t>
            </a:r>
            <a:endParaRPr sz="36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pPr>
            <a:endParaRPr sz="2800" b="1">
              <a:solidFill>
                <a:srgbClr val="000000"/>
              </a:solidFill>
            </a:endParaRPr>
          </a:p>
          <a:p>
            <a:pPr marL="0" lv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/>
            </a:pPr>
            <a:r>
              <a:rPr lang="ru-RU" sz="4400"/>
              <a:t>	</a:t>
            </a:r>
            <a:endParaRPr/>
          </a:p>
          <a:p>
            <a:pPr marL="0" lv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/>
            </a:pPr>
            <a:r>
              <a:rPr lang="ru-RU" sz="3200"/>
              <a:t>	</a:t>
            </a:r>
            <a:endParaRPr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2" name="Google Shape;622;p89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89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39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4" name="Google Shape;624;p89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1727518"/>
            <a:ext cx="11141551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/>
            </a:pPr>
            <a:r>
              <a:rPr lang="ru-RU" sz="3200"/>
              <a:t>	</a:t>
            </a:r>
            <a:endParaRPr sz="3200"/>
          </a:p>
        </p:txBody>
      </p:sp>
      <p:sp>
        <p:nvSpPr>
          <p:cNvPr id="625" name="Google Shape;625;p89" hidden="0"/>
          <p:cNvSpPr/>
          <p:nvPr isPhoto="0" userDrawn="0"/>
        </p:nvSpPr>
        <p:spPr bwMode="auto">
          <a:xfrm>
            <a:off x="510745" y="617838"/>
            <a:ext cx="11247469" cy="5782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4000" b="0" i="0" u="none" strike="noStrike" cap="none" spc="0">
                <a:solidFill>
                  <a:srgbClr val="000000"/>
                </a:solidFill>
                <a:latin typeface="Calibri"/>
                <a:cs typeface="Calibri"/>
              </a:rPr>
              <a:t>Афанасий Фет, став мировым судьей, чтобы крестьяне, участвующие в судебных заседаниях, перестали недоуменно оглядываться вокруг себя, вынужден был... Что делать?</a:t>
            </a:r>
            <a:endParaRPr sz="40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0" name="Google Shape;630;p90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90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39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2" name="Google Shape;632;p90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433784" y="689061"/>
            <a:ext cx="11324431" cy="507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  <a:defRPr/>
            </a:pPr>
            <a:r>
              <a:rPr lang="ru-RU" sz="3600" b="1">
                <a:solidFill>
                  <a:srgbClr val="000000"/>
                </a:solidFill>
              </a:rPr>
              <a:t>Ответ:</a:t>
            </a:r>
            <a:r>
              <a:rPr lang="ru-RU" sz="3600">
                <a:solidFill>
                  <a:srgbClr val="000000"/>
                </a:solidFill>
              </a:rPr>
              <a:t> </a:t>
            </a:r>
            <a:r>
              <a:rPr lang="ru-RU" sz="3600" b="0" i="0" u="none" strike="noStrike" cap="none" spc="0">
                <a:solidFill>
                  <a:srgbClr val="000000"/>
                </a:solidFill>
                <a:latin typeface="Calibri"/>
                <a:cs typeface="Calibri"/>
              </a:rPr>
              <a:t>Перейти на ты</a:t>
            </a:r>
            <a:endParaRPr sz="3600">
              <a:solidFill>
                <a:srgbClr val="000000"/>
              </a:solidFill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  <a:defRPr/>
            </a:pPr>
            <a:endParaRPr sz="2800" b="1">
              <a:solidFill>
                <a:srgbClr val="000000"/>
              </a:solidFill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  <a:defRPr/>
            </a:pP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7" name="Google Shape;637;p91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91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40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9" name="Google Shape;639;p91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1727518"/>
            <a:ext cx="11141551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/>
            </a:pPr>
            <a:r>
              <a:rPr lang="ru-RU" sz="3200"/>
              <a:t>	</a:t>
            </a:r>
            <a:endParaRPr sz="3200"/>
          </a:p>
        </p:txBody>
      </p:sp>
      <p:sp>
        <p:nvSpPr>
          <p:cNvPr id="640" name="Google Shape;640;p91" hidden="0"/>
          <p:cNvSpPr/>
          <p:nvPr isPhoto="0" userDrawn="0"/>
        </p:nvSpPr>
        <p:spPr bwMode="auto">
          <a:xfrm>
            <a:off x="433783" y="840259"/>
            <a:ext cx="11324431" cy="5189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4200" b="0" i="0" u="none" strike="noStrike" cap="none" spc="0">
                <a:solidFill>
                  <a:srgbClr val="000000"/>
                </a:solidFill>
                <a:latin typeface="Calibri"/>
                <a:cs typeface="Calibri"/>
              </a:rPr>
              <a:t>Название книги "Сэмбадзуру ориката" в переводе на русский означает "Тайна сворачивания ЕЁ". Пожалуй, самый известный процесс изготовления ЕЁ был выполнен примерно на 64%. Назовите ЕЁ двумя словами.</a:t>
            </a:r>
            <a:endParaRPr sz="4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0357909" name="Google Shape;645;p92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3" y="231169"/>
            <a:ext cx="2180430" cy="457890"/>
          </a:xfrm>
          <a:prstGeom prst="rect">
            <a:avLst/>
          </a:prstGeom>
          <a:noFill/>
          <a:ln>
            <a:noFill/>
          </a:ln>
        </p:spPr>
      </p:pic>
      <p:sp>
        <p:nvSpPr>
          <p:cNvPr id="1781555811" name="Google Shape;646;p92" hidden="0"/>
          <p:cNvSpPr txBox="1"/>
          <p:nvPr isPhoto="0" userDrawn="0"/>
        </p:nvSpPr>
        <p:spPr bwMode="auto">
          <a:xfrm>
            <a:off x="433783" y="231169"/>
            <a:ext cx="5006895" cy="774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40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05085565" name="Google Shape;647;p92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3" y="1727517"/>
            <a:ext cx="11141550" cy="165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/>
            </a:pPr>
            <a:r>
              <a:rPr lang="ru-RU" sz="3200"/>
              <a:t>	</a:t>
            </a:r>
            <a:endParaRPr sz="3200"/>
          </a:p>
        </p:txBody>
      </p:sp>
      <p:sp>
        <p:nvSpPr>
          <p:cNvPr id="30195760" name="Google Shape;648;p92" hidden="0"/>
          <p:cNvSpPr/>
          <p:nvPr isPhoto="0" userDrawn="0"/>
        </p:nvSpPr>
        <p:spPr bwMode="auto">
          <a:xfrm>
            <a:off x="433784" y="689060"/>
            <a:ext cx="11324430" cy="506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/>
            </a:pPr>
            <a:r>
              <a:rPr lang="ru-RU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Ответ:</a:t>
            </a:r>
            <a:r>
              <a:rPr lang="ru-RU"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ru-RU" sz="3600" b="0" i="0" u="none" strike="noStrike" cap="none" spc="0">
                <a:solidFill>
                  <a:srgbClr val="000000"/>
                </a:solidFill>
                <a:latin typeface="Calibri"/>
                <a:cs typeface="Calibri"/>
              </a:rPr>
              <a:t>Тысяча журавлей</a:t>
            </a:r>
            <a:endParaRPr lang="ru-RU" sz="3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/>
            </a:pP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/>
            </a:pPr>
            <a:r>
              <a:rPr lang="ru-RU" sz="36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Комментарий:</a:t>
            </a:r>
            <a:r>
              <a:rPr lang="ru-RU" sz="36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3600" b="0" i="0" u="none" strike="noStrike" cap="none" spc="0">
                <a:solidFill>
                  <a:srgbClr val="000000"/>
                </a:solidFill>
                <a:latin typeface="Calibri"/>
                <a:cs typeface="Calibri"/>
              </a:rPr>
              <a:t>Это — наиболее древняя сохранившаяся книга, посвященная оригами. Японская девочка Садако Сасаки, пережившая бомбардировку Хиросимы, должна была сложить тысячу бумажных журавликов, чтобы исполнилось ее желание выздороветь, но умерла после 644-го</a:t>
            </a: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/>
            </a:pP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/>
            </a:pP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ctr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/>
            </a:pPr>
            <a:r>
              <a:rPr lang="ru-RU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7243364" name="Google Shape;637;p91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3" y="231169"/>
            <a:ext cx="2180430" cy="457890"/>
          </a:xfrm>
          <a:prstGeom prst="rect">
            <a:avLst/>
          </a:prstGeom>
          <a:noFill/>
          <a:ln>
            <a:noFill/>
          </a:ln>
        </p:spPr>
      </p:pic>
      <p:sp>
        <p:nvSpPr>
          <p:cNvPr id="974703774" name="Google Shape;638;p91" hidden="0"/>
          <p:cNvSpPr txBox="1"/>
          <p:nvPr isPhoto="0" userDrawn="0"/>
        </p:nvSpPr>
        <p:spPr bwMode="auto">
          <a:xfrm>
            <a:off x="433783" y="231169"/>
            <a:ext cx="5006895" cy="774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41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4813631" name="Google Shape;639;p91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3" y="1727517"/>
            <a:ext cx="11141550" cy="165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/>
            </a:pPr>
            <a:r>
              <a:rPr lang="ru-RU" sz="3200"/>
              <a:t>	</a:t>
            </a:r>
            <a:endParaRPr sz="3200"/>
          </a:p>
        </p:txBody>
      </p:sp>
      <p:sp>
        <p:nvSpPr>
          <p:cNvPr id="1137022287" name="Google Shape;640;p91" hidden="0"/>
          <p:cNvSpPr/>
          <p:nvPr isPhoto="0" userDrawn="0"/>
        </p:nvSpPr>
        <p:spPr bwMode="auto">
          <a:xfrm>
            <a:off x="433782" y="840258"/>
            <a:ext cx="11324430" cy="5189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Autofit/>
          </a:bodyPr>
          <a:lstStyle/>
          <a:p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4200" b="0" i="0" u="none" strike="noStrike" cap="none" spc="0">
                <a:solidFill>
                  <a:srgbClr val="000000"/>
                </a:solidFill>
                <a:latin typeface="Calibri"/>
                <a:cs typeface="Calibri"/>
              </a:rPr>
              <a:t>Новый Уренгой начал отстраиваться вскоре после открытия газового месторождения, когда первая эксплуатационная скважина не была готова и на 50 процентов. Вторая улица Нового Уренгоя — улица Первопроходцев. Ответьте словом латинского происхождения: в честь кого получила название первая улица?</a:t>
            </a:r>
            <a:endParaRPr sz="4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5997896" name="Google Shape;645;p92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2" y="231168"/>
            <a:ext cx="2180430" cy="457889"/>
          </a:xfrm>
          <a:prstGeom prst="rect">
            <a:avLst/>
          </a:prstGeom>
          <a:noFill/>
          <a:ln>
            <a:noFill/>
          </a:ln>
        </p:spPr>
      </p:pic>
      <p:sp>
        <p:nvSpPr>
          <p:cNvPr id="1841216880" name="Google Shape;646;p92" hidden="0"/>
          <p:cNvSpPr txBox="1"/>
          <p:nvPr isPhoto="0" userDrawn="0"/>
        </p:nvSpPr>
        <p:spPr bwMode="auto">
          <a:xfrm>
            <a:off x="433782" y="231168"/>
            <a:ext cx="5006894" cy="774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Вопрос 41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8708352" name="Google Shape;647;p92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2" y="1727516"/>
            <a:ext cx="11141550" cy="165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/>
            </a:pPr>
            <a:r>
              <a:rPr lang="ru-RU" sz="3200"/>
              <a:t>	</a:t>
            </a:r>
            <a:endParaRPr sz="3200"/>
          </a:p>
        </p:txBody>
      </p:sp>
      <p:sp>
        <p:nvSpPr>
          <p:cNvPr id="1105222944" name="Google Shape;648;p92" hidden="0"/>
          <p:cNvSpPr/>
          <p:nvPr isPhoto="0" userDrawn="0"/>
        </p:nvSpPr>
        <p:spPr bwMode="auto">
          <a:xfrm>
            <a:off x="433783" y="689059"/>
            <a:ext cx="11324430" cy="5063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/>
            </a:pPr>
            <a:r>
              <a:rPr lang="ru-RU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Ответ:</a:t>
            </a:r>
            <a:r>
              <a:rPr lang="ru-RU"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ru-RU" sz="3600" b="0" i="0" u="none" strike="noStrike" cap="none" spc="0">
                <a:solidFill>
                  <a:srgbClr val="000000"/>
                </a:solidFill>
                <a:latin typeface="Calibri"/>
                <a:cs typeface="Calibri"/>
              </a:rPr>
              <a:t>Оптимистов</a:t>
            </a:r>
            <a:endParaRPr lang="ru-RU" sz="3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/>
            </a:pP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ru-RU" sz="36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Комментарий:</a:t>
            </a:r>
            <a:r>
              <a:rPr lang="ru-RU" sz="36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3600" b="0" i="0" u="none" strike="noStrike" cap="none" spc="0">
                <a:solidFill>
                  <a:srgbClr val="000000"/>
                </a:solidFill>
                <a:latin typeface="Calibri"/>
                <a:cs typeface="Calibri"/>
              </a:rPr>
              <a:t>Кто ищет, тот всегда найдет: оптимисты появились в городе даже раньше первопроходцев. Стакан первых поселенцев Нового Уренгоя был, как можно предположить, наполовину полон. К слову, стаканом называют и часть породы, которая остается в скважине при бурении.</a:t>
            </a:r>
            <a:endParaRPr lang="ru-RU" sz="36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/>
            </a:pP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/>
            </a:pP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ctr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/>
            </a:pPr>
            <a:r>
              <a:rPr lang="ru-RU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5" name="Google Shape;645;p92" descr="C:\Users\Trash\Desktop\02.png" hidden="0"/>
          <p:cNvPicPr/>
          <p:nvPr isPhoto="0" userDrawn="0"/>
        </p:nvPicPr>
        <p:blipFill>
          <a:blip r:embed="rId2">
            <a:alphaModFix/>
          </a:blip>
          <a:stretch/>
        </p:blipFill>
        <p:spPr bwMode="auto">
          <a:xfrm>
            <a:off x="9577784" y="231170"/>
            <a:ext cx="2180431" cy="457891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92" hidden="0"/>
          <p:cNvSpPr txBox="1"/>
          <p:nvPr isPhoto="0" userDrawn="0"/>
        </p:nvSpPr>
        <p:spPr bwMode="auto">
          <a:xfrm>
            <a:off x="433784" y="231170"/>
            <a:ext cx="5006896" cy="77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ru-RU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Примечания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7" name="Google Shape;647;p92" hidden="0"/>
          <p:cNvSpPr txBox="1"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616664" y="1727518"/>
            <a:ext cx="11141551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/>
            </a:pPr>
            <a:r>
              <a:rPr lang="ru-RU" sz="3200"/>
              <a:t>	</a:t>
            </a:r>
            <a:endParaRPr sz="3200"/>
          </a:p>
        </p:txBody>
      </p:sp>
      <p:sp>
        <p:nvSpPr>
          <p:cNvPr id="648" name="Google Shape;648;p92" hidden="0"/>
          <p:cNvSpPr/>
          <p:nvPr isPhoto="0" userDrawn="0"/>
        </p:nvSpPr>
        <p:spPr bwMode="auto">
          <a:xfrm flipH="0" flipV="0">
            <a:off x="433783" y="1005840"/>
            <a:ext cx="11324430" cy="5389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45698" rIns="91422" bIns="45698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/>
            </a:pPr>
            <a:r>
              <a:rPr lang="ru-RU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В следующем повторить: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/>
            </a:pPr>
            <a:r>
              <a:rPr lang="ru-RU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Про Густава Вазу (про его фамилию)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/>
            </a:pPr>
            <a:r>
              <a:rPr lang="ru-RU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Про сурстрёмминг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/>
            </a:pPr>
            <a:r>
              <a:rPr lang="ru-RU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Про неправильный мед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/>
            </a:pPr>
            <a:r>
              <a:rPr lang="ru-RU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Про казни египетские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/>
            </a:pPr>
            <a:r>
              <a:rPr lang="ru-RU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Про пять стадий принятия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/>
            </a:pPr>
            <a:r>
              <a:rPr lang="ru-RU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Добавить Фенрира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/>
            </a:pPr>
            <a:r>
              <a:rPr lang="ru-RU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Про Тевтобургский лес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/>
            </a:pPr>
            <a:r>
              <a:rPr lang="ru-RU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Добавить про Одина (один глаз, шляпа и тд)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/>
            </a:pPr>
            <a:r>
              <a:rPr lang="ru-RU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Про акронимы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/>
            </a:pPr>
            <a:r>
              <a:rPr lang="ru-RU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Про ершонимы</a:t>
            </a:r>
            <a:endParaRPr lang="ru-RU"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/>
            </a:pP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/>
            </a:pPr>
            <a:r>
              <a:rPr lang="ru-RU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В отчёте написал: «</a:t>
            </a:r>
            <a:r>
              <a:rPr sz="11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Сбавили темп к концу. Обычно играли ровнее, а тут прям тренд на спад был. Наверно зима близко )</a:t>
            </a:r>
            <a:r>
              <a:rPr lang="ru-RU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» Добавить про Игру престолов )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/>
            </a:pPr>
            <a:r>
              <a:rPr lang="ru-RU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R7-Office/7.4.0.112</Application>
  <DocSecurity>0</DocSecurity>
  <PresentationFormat>Широкоэкранный</PresentationFormat>
  <Paragraphs>0</Paragraphs>
  <Slides>83</Slides>
  <Notes>83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dc:identifier/>
  <dc:language/>
  <cp:lastModifiedBy>Максим Куpашкин</cp:lastModifiedBy>
  <cp:revision>44</cp:revision>
  <dcterms:modified xsi:type="dcterms:W3CDTF">2024-03-26T04:26:10Z</dcterms:modified>
  <cp:category/>
  <cp:contentStatus/>
  <cp:version/>
</cp:coreProperties>
</file>